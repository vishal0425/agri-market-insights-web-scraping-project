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510" r:id="rId1"/>
  </p:sldMasterIdLst>
  <p:notesMasterIdLst>
    <p:notesMasterId r:id="rId23"/>
  </p:notesMasterIdLst>
  <p:sldIdLst>
    <p:sldId id="256" r:id="rId2"/>
    <p:sldId id="257" r:id="rId3"/>
    <p:sldId id="275" r:id="rId4"/>
    <p:sldId id="287" r:id="rId5"/>
    <p:sldId id="284" r:id="rId6"/>
    <p:sldId id="289" r:id="rId7"/>
    <p:sldId id="290" r:id="rId8"/>
    <p:sldId id="263" r:id="rId9"/>
    <p:sldId id="274" r:id="rId10"/>
    <p:sldId id="272" r:id="rId11"/>
    <p:sldId id="282" r:id="rId12"/>
    <p:sldId id="271" r:id="rId13"/>
    <p:sldId id="277" r:id="rId14"/>
    <p:sldId id="270" r:id="rId15"/>
    <p:sldId id="285" r:id="rId16"/>
    <p:sldId id="265" r:id="rId17"/>
    <p:sldId id="268" r:id="rId18"/>
    <p:sldId id="279" r:id="rId19"/>
    <p:sldId id="264" r:id="rId20"/>
    <p:sldId id="286" r:id="rId21"/>
    <p:sldId id="259" r:id="rId22"/>
  </p:sldIdLst>
  <p:sldSz cx="15544800" cy="8229600"/>
  <p:notesSz cx="6858000" cy="9144000"/>
  <p:embeddedFontLst>
    <p:embeddedFont>
      <p:font typeface="Book Antiqua" panose="02040602050305030304" pitchFamily="18" charset="0"/>
      <p:regular r:id="rId24"/>
      <p:bold r:id="rId25"/>
      <p:italic r:id="rId26"/>
      <p:boldItalic r:id="rId27"/>
    </p:embeddedFont>
    <p:embeddedFont>
      <p:font typeface="Lato Black" panose="020F0502020204030203" pitchFamily="34" charset="0"/>
      <p:bold r:id="rId28"/>
      <p:boldItalic r:id="rId29"/>
    </p:embeddedFont>
    <p:embeddedFont>
      <p:font typeface="Libre Baskerville" panose="02000000000000000000" pitchFamily="2" charset="0"/>
      <p:regular r:id="rId30"/>
      <p:bold r:id="rId31"/>
      <p:italic r:id="rId32"/>
    </p:embeddedFont>
    <p:embeddedFont>
      <p:font typeface="Lucida Fax" panose="02060602050505020204" pitchFamily="18"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C07559F-E79B-4BF6-B342-5ACD56763249}">
          <p14:sldIdLst>
            <p14:sldId id="256"/>
            <p14:sldId id="257"/>
            <p14:sldId id="275"/>
            <p14:sldId id="287"/>
            <p14:sldId id="284"/>
            <p14:sldId id="289"/>
            <p14:sldId id="290"/>
            <p14:sldId id="263"/>
            <p14:sldId id="274"/>
            <p14:sldId id="272"/>
            <p14:sldId id="282"/>
            <p14:sldId id="271"/>
            <p14:sldId id="277"/>
            <p14:sldId id="270"/>
          </p14:sldIdLst>
        </p14:section>
        <p14:section name="Untitled Section" id="{C0BD8CB2-AE50-4CF5-9CAA-74B4237C21A3}">
          <p14:sldIdLst>
            <p14:sldId id="285"/>
            <p14:sldId id="265"/>
            <p14:sldId id="268"/>
            <p14:sldId id="279"/>
            <p14:sldId id="264"/>
            <p14:sldId id="286"/>
            <p14:sldId id="259"/>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7" roundtripDataSignature="AMtx7mhnFQsu0qTBRZ+C47HNp0tuHCNko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45BDB8-B2CA-15DB-B473-36F4A0ADD8B8}" name="Vishal Chavanke" initials="VC" userId="2631b63b23865f7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9B1D7-98A5-4F79-A654-51757A64BABD}" v="5" dt="2025-11-02T12:20:11.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89" autoAdjust="0"/>
    <p:restoredTop sz="94660"/>
  </p:normalViewPr>
  <p:slideViewPr>
    <p:cSldViewPr snapToGrid="0">
      <p:cViewPr varScale="1">
        <p:scale>
          <a:sx n="57" d="100"/>
          <a:sy n="57" d="100"/>
        </p:scale>
        <p:origin x="91"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507"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11.fntdata"/><Relationship Id="rId51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09" Type="http://schemas.openxmlformats.org/officeDocument/2006/relationships/viewProps" Target="viewProps.xml"/><Relationship Id="rId51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12"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0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11"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5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l Chavanke" userId="2631b63b23865f78" providerId="LiveId" clId="{C2614473-FAFF-4A63-BE36-71175AA60047}"/>
    <pc:docChg chg="undo custSel modSld">
      <pc:chgData name="Vishal Chavanke" userId="2631b63b23865f78" providerId="LiveId" clId="{C2614473-FAFF-4A63-BE36-71175AA60047}" dt="2025-10-12T17:34:27.376" v="96"/>
      <pc:docMkLst>
        <pc:docMk/>
      </pc:docMkLst>
      <pc:sldChg chg="addSp modSp mod">
        <pc:chgData name="Vishal Chavanke" userId="2631b63b23865f78" providerId="LiveId" clId="{C2614473-FAFF-4A63-BE36-71175AA60047}" dt="2025-10-12T17:34:27.376" v="96"/>
        <pc:sldMkLst>
          <pc:docMk/>
          <pc:sldMk cId="0" sldId="257"/>
        </pc:sldMkLst>
      </pc:sldChg>
      <pc:sldChg chg="modSp mod">
        <pc:chgData name="Vishal Chavanke" userId="2631b63b23865f78" providerId="LiveId" clId="{C2614473-FAFF-4A63-BE36-71175AA60047}" dt="2025-09-14T20:31:32.143" v="92" actId="20577"/>
        <pc:sldMkLst>
          <pc:docMk/>
          <pc:sldMk cId="543574587"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514350" y="1143000"/>
            <a:ext cx="58293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514350" y="1143000"/>
            <a:ext cx="58293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4350" y="1143000"/>
            <a:ext cx="58293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5567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514350" y="1143000"/>
            <a:ext cx="58293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ctrTitle"/>
          </p:nvPr>
        </p:nvSpPr>
        <p:spPr>
          <a:xfrm>
            <a:off x="5052059" y="2357120"/>
            <a:ext cx="9177101" cy="2905757"/>
          </a:xfrm>
        </p:spPr>
        <p:txBody>
          <a:bodyPr anchor="b">
            <a:normAutofit/>
          </a:bodyPr>
          <a:lstStyle>
            <a:lvl1pPr algn="r">
              <a:defRPr sz="9067">
                <a:effectLst/>
              </a:defRPr>
            </a:lvl1pPr>
          </a:lstStyle>
          <a:p>
            <a:r>
              <a:rPr lang="en-US"/>
              <a:t>Click to edit Master title style</a:t>
            </a:r>
          </a:p>
        </p:txBody>
      </p:sp>
      <p:sp>
        <p:nvSpPr>
          <p:cNvPr id="3" name="Subtitle 2"/>
          <p:cNvSpPr>
            <a:spLocks noGrp="1"/>
          </p:cNvSpPr>
          <p:nvPr>
            <p:ph type="subTitle" idx="1"/>
          </p:nvPr>
        </p:nvSpPr>
        <p:spPr>
          <a:xfrm>
            <a:off x="5052059" y="5262879"/>
            <a:ext cx="9177101" cy="1686560"/>
          </a:xfrm>
        </p:spPr>
        <p:txBody>
          <a:bodyPr anchor="t">
            <a:normAutofit/>
          </a:bodyPr>
          <a:lstStyle>
            <a:lvl1pPr marL="0" indent="0" algn="r">
              <a:buNone/>
              <a:defRPr sz="3400" cap="all">
                <a:solidFill>
                  <a:schemeClr val="tx1"/>
                </a:solidFill>
              </a:defRPr>
            </a:lvl1pPr>
            <a:lvl2pPr marL="863605" indent="0" algn="ctr">
              <a:buNone/>
              <a:defRPr>
                <a:solidFill>
                  <a:schemeClr val="tx1">
                    <a:tint val="75000"/>
                  </a:schemeClr>
                </a:solidFill>
              </a:defRPr>
            </a:lvl2pPr>
            <a:lvl3pPr marL="1727210" indent="0" algn="ctr">
              <a:buNone/>
              <a:defRPr>
                <a:solidFill>
                  <a:schemeClr val="tx1">
                    <a:tint val="75000"/>
                  </a:schemeClr>
                </a:solidFill>
              </a:defRPr>
            </a:lvl3pPr>
            <a:lvl4pPr marL="2590815" indent="0" algn="ctr">
              <a:buNone/>
              <a:defRPr>
                <a:solidFill>
                  <a:schemeClr val="tx1">
                    <a:tint val="75000"/>
                  </a:schemeClr>
                </a:solidFill>
              </a:defRPr>
            </a:lvl4pPr>
            <a:lvl5pPr marL="3454420" indent="0" algn="ctr">
              <a:buNone/>
              <a:defRPr>
                <a:solidFill>
                  <a:schemeClr val="tx1">
                    <a:tint val="75000"/>
                  </a:schemeClr>
                </a:solidFill>
              </a:defRPr>
            </a:lvl5pPr>
            <a:lvl6pPr marL="4318025" indent="0" algn="ctr">
              <a:buNone/>
              <a:defRPr>
                <a:solidFill>
                  <a:schemeClr val="tx1">
                    <a:tint val="75000"/>
                  </a:schemeClr>
                </a:solidFill>
              </a:defRPr>
            </a:lvl6pPr>
            <a:lvl7pPr marL="5181630" indent="0" algn="ctr">
              <a:buNone/>
              <a:defRPr>
                <a:solidFill>
                  <a:schemeClr val="tx1">
                    <a:tint val="75000"/>
                  </a:schemeClr>
                </a:solidFill>
              </a:defRPr>
            </a:lvl7pPr>
            <a:lvl8pPr marL="6045236" indent="0" algn="ctr">
              <a:buNone/>
              <a:defRPr>
                <a:solidFill>
                  <a:schemeClr val="tx1">
                    <a:tint val="75000"/>
                  </a:schemeClr>
                </a:solidFill>
              </a:defRPr>
            </a:lvl8pPr>
            <a:lvl9pPr marL="690884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11389011" y="7044691"/>
            <a:ext cx="2040255" cy="453390"/>
          </a:xfrm>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a:xfrm>
            <a:off x="5052059" y="7044691"/>
            <a:ext cx="6239796" cy="453390"/>
          </a:xfrm>
        </p:spPr>
        <p:txBody>
          <a:bodyPr/>
          <a:lstStyle/>
          <a:p>
            <a:endParaRPr lang="en-US"/>
          </a:p>
        </p:txBody>
      </p:sp>
      <p:sp>
        <p:nvSpPr>
          <p:cNvPr id="6" name="Slide Number Placeholder 5"/>
          <p:cNvSpPr>
            <a:spLocks noGrp="1"/>
          </p:cNvSpPr>
          <p:nvPr>
            <p:ph type="sldNum" sz="quarter" idx="12"/>
          </p:nvPr>
        </p:nvSpPr>
        <p:spPr>
          <a:xfrm>
            <a:off x="13526422" y="7044691"/>
            <a:ext cx="702738" cy="453390"/>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743376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785803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a:xfrm>
            <a:off x="874396" y="3970297"/>
            <a:ext cx="12917569" cy="1762560"/>
          </a:xfrm>
        </p:spPr>
        <p:txBody>
          <a:bodyPr anchor="b"/>
          <a:lstStyle>
            <a:lvl1pPr algn="l">
              <a:defRPr sz="7556" b="0" cap="all"/>
            </a:lvl1pPr>
          </a:lstStyle>
          <a:p>
            <a:r>
              <a:rPr lang="en-US"/>
              <a:t>Click to edit Master title style</a:t>
            </a:r>
          </a:p>
        </p:txBody>
      </p:sp>
      <p:sp>
        <p:nvSpPr>
          <p:cNvPr id="3" name="Text Placeholder 2"/>
          <p:cNvSpPr>
            <a:spLocks noGrp="1"/>
          </p:cNvSpPr>
          <p:nvPr>
            <p:ph type="body" idx="1"/>
          </p:nvPr>
        </p:nvSpPr>
        <p:spPr>
          <a:xfrm>
            <a:off x="874394" y="5732857"/>
            <a:ext cx="12917571" cy="1032480"/>
          </a:xfrm>
        </p:spPr>
        <p:txBody>
          <a:bodyPr anchor="t">
            <a:normAutofit/>
          </a:bodyPr>
          <a:lstStyle>
            <a:lvl1pPr marL="0" indent="0" algn="l">
              <a:buNone/>
              <a:defRPr sz="3778" cap="all">
                <a:solidFill>
                  <a:schemeClr val="tx1"/>
                </a:solidFill>
              </a:defRPr>
            </a:lvl1pPr>
            <a:lvl2pPr marL="863605" indent="0">
              <a:buNone/>
              <a:defRPr sz="3400">
                <a:solidFill>
                  <a:schemeClr val="tx1">
                    <a:tint val="75000"/>
                  </a:schemeClr>
                </a:solidFill>
              </a:defRPr>
            </a:lvl2pPr>
            <a:lvl3pPr marL="1727210" indent="0">
              <a:buNone/>
              <a:defRPr sz="3022">
                <a:solidFill>
                  <a:schemeClr val="tx1">
                    <a:tint val="75000"/>
                  </a:schemeClr>
                </a:solidFill>
              </a:defRPr>
            </a:lvl3pPr>
            <a:lvl4pPr marL="2590815" indent="0">
              <a:buNone/>
              <a:defRPr sz="2644">
                <a:solidFill>
                  <a:schemeClr val="tx1">
                    <a:tint val="75000"/>
                  </a:schemeClr>
                </a:solidFill>
              </a:defRPr>
            </a:lvl4pPr>
            <a:lvl5pPr marL="3454420" indent="0">
              <a:buNone/>
              <a:defRPr sz="2644">
                <a:solidFill>
                  <a:schemeClr val="tx1">
                    <a:tint val="75000"/>
                  </a:schemeClr>
                </a:solidFill>
              </a:defRPr>
            </a:lvl5pPr>
            <a:lvl6pPr marL="4318025" indent="0">
              <a:buNone/>
              <a:defRPr sz="2644">
                <a:solidFill>
                  <a:schemeClr val="tx1">
                    <a:tint val="75000"/>
                  </a:schemeClr>
                </a:solidFill>
              </a:defRPr>
            </a:lvl6pPr>
            <a:lvl7pPr marL="5181630" indent="0">
              <a:buNone/>
              <a:defRPr sz="2644">
                <a:solidFill>
                  <a:schemeClr val="tx1">
                    <a:tint val="75000"/>
                  </a:schemeClr>
                </a:solidFill>
              </a:defRPr>
            </a:lvl7pPr>
            <a:lvl8pPr marL="6045236" indent="0">
              <a:buNone/>
              <a:defRPr sz="2644">
                <a:solidFill>
                  <a:schemeClr val="tx1">
                    <a:tint val="75000"/>
                  </a:schemeClr>
                </a:solidFill>
              </a:defRPr>
            </a:lvl8pPr>
            <a:lvl9pPr marL="6908841" indent="0">
              <a:buNone/>
              <a:defRPr sz="26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202635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74397" y="2570480"/>
            <a:ext cx="6369051" cy="43789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22916" y="2570481"/>
            <a:ext cx="6369048" cy="43789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054194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1241429" y="2661921"/>
            <a:ext cx="6004044" cy="691514"/>
          </a:xfrm>
        </p:spPr>
        <p:txBody>
          <a:bodyPr anchor="b">
            <a:noAutofit/>
          </a:bodyPr>
          <a:lstStyle>
            <a:lvl1pPr marL="0" indent="0">
              <a:buNone/>
              <a:defRPr sz="5289" b="0"/>
            </a:lvl1pPr>
            <a:lvl2pPr marL="863605" indent="0">
              <a:buNone/>
              <a:defRPr sz="3778" b="1"/>
            </a:lvl2pPr>
            <a:lvl3pPr marL="1727210" indent="0">
              <a:buNone/>
              <a:defRPr sz="3400" b="1"/>
            </a:lvl3pPr>
            <a:lvl4pPr marL="2590815" indent="0">
              <a:buNone/>
              <a:defRPr sz="3022" b="1"/>
            </a:lvl4pPr>
            <a:lvl5pPr marL="3454420" indent="0">
              <a:buNone/>
              <a:defRPr sz="3022" b="1"/>
            </a:lvl5pPr>
            <a:lvl6pPr marL="4318025" indent="0">
              <a:buNone/>
              <a:defRPr sz="3022" b="1"/>
            </a:lvl6pPr>
            <a:lvl7pPr marL="5181630" indent="0">
              <a:buNone/>
              <a:defRPr sz="3022" b="1"/>
            </a:lvl7pPr>
            <a:lvl8pPr marL="6045236" indent="0">
              <a:buNone/>
              <a:defRPr sz="3022" b="1"/>
            </a:lvl8pPr>
            <a:lvl9pPr marL="6908841" indent="0">
              <a:buNone/>
              <a:defRPr sz="3022" b="1"/>
            </a:lvl9pPr>
          </a:lstStyle>
          <a:p>
            <a:pPr lvl="0"/>
            <a:r>
              <a:rPr lang="en-US"/>
              <a:t>CLICK TO EDIT MASTER TEXT STYLES</a:t>
            </a:r>
          </a:p>
        </p:txBody>
      </p:sp>
      <p:sp>
        <p:nvSpPr>
          <p:cNvPr id="4" name="Content Placeholder 3"/>
          <p:cNvSpPr>
            <a:spLocks noGrp="1"/>
          </p:cNvSpPr>
          <p:nvPr>
            <p:ph sz="half" idx="2"/>
          </p:nvPr>
        </p:nvSpPr>
        <p:spPr>
          <a:xfrm>
            <a:off x="874397" y="3444241"/>
            <a:ext cx="6371077" cy="35051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7772404" y="2672081"/>
            <a:ext cx="6021587" cy="691514"/>
          </a:xfrm>
        </p:spPr>
        <p:txBody>
          <a:bodyPr anchor="b">
            <a:noAutofit/>
          </a:bodyPr>
          <a:lstStyle>
            <a:lvl1pPr marL="0" indent="0">
              <a:buNone/>
              <a:defRPr sz="5289" b="0"/>
            </a:lvl1pPr>
            <a:lvl2pPr marL="863605" indent="0">
              <a:buNone/>
              <a:defRPr sz="3778" b="1"/>
            </a:lvl2pPr>
            <a:lvl3pPr marL="1727210" indent="0">
              <a:buNone/>
              <a:defRPr sz="3400" b="1"/>
            </a:lvl3pPr>
            <a:lvl4pPr marL="2590815" indent="0">
              <a:buNone/>
              <a:defRPr sz="3022" b="1"/>
            </a:lvl4pPr>
            <a:lvl5pPr marL="3454420" indent="0">
              <a:buNone/>
              <a:defRPr sz="3022" b="1"/>
            </a:lvl5pPr>
            <a:lvl6pPr marL="4318025" indent="0">
              <a:buNone/>
              <a:defRPr sz="3022" b="1"/>
            </a:lvl6pPr>
            <a:lvl7pPr marL="5181630" indent="0">
              <a:buNone/>
              <a:defRPr sz="3022" b="1"/>
            </a:lvl7pPr>
            <a:lvl8pPr marL="6045236" indent="0">
              <a:buNone/>
              <a:defRPr sz="3022" b="1"/>
            </a:lvl8pPr>
            <a:lvl9pPr marL="6908841" indent="0">
              <a:buNone/>
              <a:defRPr sz="3022" b="1"/>
            </a:lvl9pPr>
          </a:lstStyle>
          <a:p>
            <a:pPr lvl="0"/>
            <a:r>
              <a:rPr lang="en-US"/>
              <a:t>CLICK TO EDIT MASTER TEXT STYLES</a:t>
            </a:r>
          </a:p>
        </p:txBody>
      </p:sp>
      <p:sp>
        <p:nvSpPr>
          <p:cNvPr id="6" name="Content Placeholder 5"/>
          <p:cNvSpPr>
            <a:spLocks noGrp="1"/>
          </p:cNvSpPr>
          <p:nvPr>
            <p:ph sz="quarter" idx="4"/>
          </p:nvPr>
        </p:nvSpPr>
        <p:spPr>
          <a:xfrm>
            <a:off x="7424941" y="3444241"/>
            <a:ext cx="6369051" cy="35051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85007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155434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12417155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a:xfrm>
            <a:off x="874396" y="2489200"/>
            <a:ext cx="4693128" cy="1645920"/>
          </a:xfrm>
        </p:spPr>
        <p:txBody>
          <a:bodyPr anchor="b">
            <a:normAutofit/>
          </a:bodyPr>
          <a:lstStyle>
            <a:lvl1pPr algn="l">
              <a:defRPr sz="4533" b="0"/>
            </a:lvl1pPr>
          </a:lstStyle>
          <a:p>
            <a:r>
              <a:rPr lang="en-US"/>
              <a:t>Click to edit Master title style</a:t>
            </a:r>
          </a:p>
        </p:txBody>
      </p:sp>
      <p:sp>
        <p:nvSpPr>
          <p:cNvPr id="3" name="Content Placeholder 2"/>
          <p:cNvSpPr>
            <a:spLocks noGrp="1"/>
          </p:cNvSpPr>
          <p:nvPr>
            <p:ph idx="1"/>
          </p:nvPr>
        </p:nvSpPr>
        <p:spPr>
          <a:xfrm>
            <a:off x="5926456" y="731521"/>
            <a:ext cx="7865508" cy="621792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74396" y="4135120"/>
            <a:ext cx="4693128" cy="2194560"/>
          </a:xfrm>
        </p:spPr>
        <p:txBody>
          <a:bodyPr anchor="t">
            <a:normAutofit/>
          </a:bodyPr>
          <a:lstStyle>
            <a:lvl1pPr marL="0" indent="0">
              <a:buNone/>
              <a:defRPr sz="3022"/>
            </a:lvl1pPr>
            <a:lvl2pPr marL="863605" indent="0">
              <a:buNone/>
              <a:defRPr sz="2267"/>
            </a:lvl2pPr>
            <a:lvl3pPr marL="1727210" indent="0">
              <a:buNone/>
              <a:defRPr sz="1889"/>
            </a:lvl3pPr>
            <a:lvl4pPr marL="2590815" indent="0">
              <a:buNone/>
              <a:defRPr sz="1700"/>
            </a:lvl4pPr>
            <a:lvl5pPr marL="3454420" indent="0">
              <a:buNone/>
              <a:defRPr sz="1700"/>
            </a:lvl5pPr>
            <a:lvl6pPr marL="4318025" indent="0">
              <a:buNone/>
              <a:defRPr sz="1700"/>
            </a:lvl6pPr>
            <a:lvl7pPr marL="5181630" indent="0">
              <a:buNone/>
              <a:defRPr sz="1700"/>
            </a:lvl7pPr>
            <a:lvl8pPr marL="6045236" indent="0">
              <a:buNone/>
              <a:defRPr sz="1700"/>
            </a:lvl8pPr>
            <a:lvl9pPr marL="6908841" indent="0">
              <a:buNone/>
              <a:defRPr sz="17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620060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a:xfrm>
            <a:off x="874395" y="1920240"/>
            <a:ext cx="7859933" cy="1645920"/>
          </a:xfrm>
        </p:spPr>
        <p:txBody>
          <a:bodyPr anchor="b">
            <a:normAutofit/>
          </a:bodyPr>
          <a:lstStyle>
            <a:lvl1pPr algn="l">
              <a:defRPr sz="5289" b="0"/>
            </a:lvl1pPr>
          </a:lstStyle>
          <a:p>
            <a:r>
              <a:rPr lang="en-US"/>
              <a:t>Click to edit Master title style</a:t>
            </a:r>
          </a:p>
        </p:txBody>
      </p:sp>
      <p:sp>
        <p:nvSpPr>
          <p:cNvPr id="14" name="Picture Placeholder 2"/>
          <p:cNvSpPr>
            <a:spLocks noGrp="1" noChangeAspect="1"/>
          </p:cNvSpPr>
          <p:nvPr>
            <p:ph type="pic" idx="1"/>
          </p:nvPr>
        </p:nvSpPr>
        <p:spPr>
          <a:xfrm>
            <a:off x="9608723" y="1097280"/>
            <a:ext cx="4183242" cy="54864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3022"/>
            </a:lvl1pPr>
            <a:lvl2pPr marL="863605" indent="0">
              <a:buNone/>
              <a:defRPr sz="3022"/>
            </a:lvl2pPr>
            <a:lvl3pPr marL="1727210" indent="0">
              <a:buNone/>
              <a:defRPr sz="3022"/>
            </a:lvl3pPr>
            <a:lvl4pPr marL="2590815" indent="0">
              <a:buNone/>
              <a:defRPr sz="3022"/>
            </a:lvl4pPr>
            <a:lvl5pPr marL="3454420" indent="0">
              <a:buNone/>
              <a:defRPr sz="3022"/>
            </a:lvl5pPr>
            <a:lvl6pPr marL="4318025" indent="0">
              <a:buNone/>
              <a:defRPr sz="3022"/>
            </a:lvl6pPr>
            <a:lvl7pPr marL="5181630" indent="0">
              <a:buNone/>
              <a:defRPr sz="3022"/>
            </a:lvl7pPr>
            <a:lvl8pPr marL="6045236" indent="0">
              <a:buNone/>
              <a:defRPr sz="3022"/>
            </a:lvl8pPr>
            <a:lvl9pPr marL="6908841" indent="0">
              <a:buNone/>
              <a:defRPr sz="3022"/>
            </a:lvl9pPr>
          </a:lstStyle>
          <a:p>
            <a:endParaRPr lang="en-US"/>
          </a:p>
        </p:txBody>
      </p:sp>
      <p:sp>
        <p:nvSpPr>
          <p:cNvPr id="4" name="Text Placeholder 3"/>
          <p:cNvSpPr>
            <a:spLocks noGrp="1"/>
          </p:cNvSpPr>
          <p:nvPr>
            <p:ph type="body" sz="half" idx="2"/>
          </p:nvPr>
        </p:nvSpPr>
        <p:spPr>
          <a:xfrm>
            <a:off x="874395" y="3566160"/>
            <a:ext cx="7859933" cy="2194560"/>
          </a:xfrm>
        </p:spPr>
        <p:txBody>
          <a:bodyPr anchor="t">
            <a:normAutofit/>
          </a:bodyPr>
          <a:lstStyle>
            <a:lvl1pPr marL="0" indent="0">
              <a:buNone/>
              <a:defRPr sz="3400"/>
            </a:lvl1pPr>
            <a:lvl2pPr marL="863605" indent="0">
              <a:buNone/>
              <a:defRPr sz="2267"/>
            </a:lvl2pPr>
            <a:lvl3pPr marL="1727210" indent="0">
              <a:buNone/>
              <a:defRPr sz="1889"/>
            </a:lvl3pPr>
            <a:lvl4pPr marL="2590815" indent="0">
              <a:buNone/>
              <a:defRPr sz="1700"/>
            </a:lvl4pPr>
            <a:lvl5pPr marL="3454420" indent="0">
              <a:buNone/>
              <a:defRPr sz="1700"/>
            </a:lvl5pPr>
            <a:lvl6pPr marL="4318025" indent="0">
              <a:buNone/>
              <a:defRPr sz="1700"/>
            </a:lvl6pPr>
            <a:lvl7pPr marL="5181630" indent="0">
              <a:buNone/>
              <a:defRPr sz="1700"/>
            </a:lvl7pPr>
            <a:lvl8pPr marL="6045236" indent="0">
              <a:buNone/>
              <a:defRPr sz="1700"/>
            </a:lvl8pPr>
            <a:lvl9pPr marL="6908841" indent="0">
              <a:buNone/>
              <a:defRPr sz="17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624370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a:xfrm>
            <a:off x="874396" y="5679438"/>
            <a:ext cx="12917569" cy="680086"/>
          </a:xfrm>
        </p:spPr>
        <p:txBody>
          <a:bodyPr anchor="b">
            <a:normAutofit/>
          </a:bodyPr>
          <a:lstStyle>
            <a:lvl1pPr algn="l">
              <a:defRPr sz="4533" b="0"/>
            </a:lvl1pPr>
          </a:lstStyle>
          <a:p>
            <a:r>
              <a:rPr lang="en-US"/>
              <a:t>Click to edit Master title style</a:t>
            </a:r>
          </a:p>
        </p:txBody>
      </p:sp>
      <p:sp>
        <p:nvSpPr>
          <p:cNvPr id="3" name="Picture Placeholder 2"/>
          <p:cNvSpPr>
            <a:spLocks noGrp="1" noChangeAspect="1"/>
          </p:cNvSpPr>
          <p:nvPr>
            <p:ph type="pic" idx="1"/>
          </p:nvPr>
        </p:nvSpPr>
        <p:spPr>
          <a:xfrm>
            <a:off x="1748791" y="1118535"/>
            <a:ext cx="11168779" cy="3797971"/>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3022"/>
            </a:lvl1pPr>
            <a:lvl2pPr marL="863605" indent="0">
              <a:buNone/>
              <a:defRPr sz="3022"/>
            </a:lvl2pPr>
            <a:lvl3pPr marL="1727210" indent="0">
              <a:buNone/>
              <a:defRPr sz="3022"/>
            </a:lvl3pPr>
            <a:lvl4pPr marL="2590815" indent="0">
              <a:buNone/>
              <a:defRPr sz="3022"/>
            </a:lvl4pPr>
            <a:lvl5pPr marL="3454420" indent="0">
              <a:buNone/>
              <a:defRPr sz="3022"/>
            </a:lvl5pPr>
            <a:lvl6pPr marL="4318025" indent="0">
              <a:buNone/>
              <a:defRPr sz="3022"/>
            </a:lvl6pPr>
            <a:lvl7pPr marL="5181630" indent="0">
              <a:buNone/>
              <a:defRPr sz="3022"/>
            </a:lvl7pPr>
            <a:lvl8pPr marL="6045236" indent="0">
              <a:buNone/>
              <a:defRPr sz="3022"/>
            </a:lvl8pPr>
            <a:lvl9pPr marL="6908841" indent="0">
              <a:buNone/>
              <a:defRPr sz="3022"/>
            </a:lvl9pPr>
          </a:lstStyle>
          <a:p>
            <a:endParaRPr lang="en-US"/>
          </a:p>
        </p:txBody>
      </p:sp>
      <p:sp>
        <p:nvSpPr>
          <p:cNvPr id="4" name="Text Placeholder 3"/>
          <p:cNvSpPr>
            <a:spLocks noGrp="1"/>
          </p:cNvSpPr>
          <p:nvPr>
            <p:ph type="body" sz="half" idx="2"/>
          </p:nvPr>
        </p:nvSpPr>
        <p:spPr>
          <a:xfrm>
            <a:off x="874396" y="6359524"/>
            <a:ext cx="12917569" cy="592454"/>
          </a:xfrm>
        </p:spPr>
        <p:txBody>
          <a:bodyPr anchor="t">
            <a:normAutofit/>
          </a:bodyPr>
          <a:lstStyle>
            <a:lvl1pPr marL="0" indent="0">
              <a:buNone/>
              <a:defRPr sz="2644"/>
            </a:lvl1pPr>
            <a:lvl2pPr marL="863605" indent="0">
              <a:buNone/>
              <a:defRPr sz="2267"/>
            </a:lvl2pPr>
            <a:lvl3pPr marL="1727210" indent="0">
              <a:buNone/>
              <a:defRPr sz="1889"/>
            </a:lvl3pPr>
            <a:lvl4pPr marL="2590815" indent="0">
              <a:buNone/>
              <a:defRPr sz="1700"/>
            </a:lvl4pPr>
            <a:lvl5pPr marL="3454420" indent="0">
              <a:buNone/>
              <a:defRPr sz="1700"/>
            </a:lvl5pPr>
            <a:lvl6pPr marL="4318025" indent="0">
              <a:buNone/>
              <a:defRPr sz="1700"/>
            </a:lvl6pPr>
            <a:lvl7pPr marL="5181630" indent="0">
              <a:buNone/>
              <a:defRPr sz="1700"/>
            </a:lvl7pPr>
            <a:lvl8pPr marL="6045236" indent="0">
              <a:buNone/>
              <a:defRPr sz="1700"/>
            </a:lvl8pPr>
            <a:lvl9pPr marL="6908841" indent="0">
              <a:buNone/>
              <a:defRPr sz="17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032319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a:xfrm>
            <a:off x="874397" y="731522"/>
            <a:ext cx="12917569" cy="3749039"/>
          </a:xfrm>
        </p:spPr>
        <p:txBody>
          <a:bodyPr anchor="ctr">
            <a:normAutofit/>
          </a:bodyPr>
          <a:lstStyle>
            <a:lvl1pPr algn="l">
              <a:defRPr sz="6044" b="0" cap="none"/>
            </a:lvl1pPr>
          </a:lstStyle>
          <a:p>
            <a:r>
              <a:rPr lang="en-US"/>
              <a:t>Click to edit Master title style</a:t>
            </a:r>
          </a:p>
        </p:txBody>
      </p:sp>
      <p:sp>
        <p:nvSpPr>
          <p:cNvPr id="3" name="Text Placeholder 2"/>
          <p:cNvSpPr>
            <a:spLocks noGrp="1"/>
          </p:cNvSpPr>
          <p:nvPr>
            <p:ph type="body" idx="1"/>
          </p:nvPr>
        </p:nvSpPr>
        <p:spPr>
          <a:xfrm>
            <a:off x="874395" y="5212080"/>
            <a:ext cx="12917571" cy="1737360"/>
          </a:xfrm>
        </p:spPr>
        <p:txBody>
          <a:bodyPr anchor="ctr">
            <a:normAutofit/>
          </a:bodyPr>
          <a:lstStyle>
            <a:lvl1pPr marL="0" indent="0" algn="l">
              <a:buNone/>
              <a:defRPr sz="3778">
                <a:solidFill>
                  <a:schemeClr val="tx1"/>
                </a:solidFill>
              </a:defRPr>
            </a:lvl1pPr>
            <a:lvl2pPr marL="863605" indent="0">
              <a:buNone/>
              <a:defRPr sz="3400">
                <a:solidFill>
                  <a:schemeClr val="tx1">
                    <a:tint val="75000"/>
                  </a:schemeClr>
                </a:solidFill>
              </a:defRPr>
            </a:lvl2pPr>
            <a:lvl3pPr marL="1727210" indent="0">
              <a:buNone/>
              <a:defRPr sz="3022">
                <a:solidFill>
                  <a:schemeClr val="tx1">
                    <a:tint val="75000"/>
                  </a:schemeClr>
                </a:solidFill>
              </a:defRPr>
            </a:lvl3pPr>
            <a:lvl4pPr marL="2590815" indent="0">
              <a:buNone/>
              <a:defRPr sz="2644">
                <a:solidFill>
                  <a:schemeClr val="tx1">
                    <a:tint val="75000"/>
                  </a:schemeClr>
                </a:solidFill>
              </a:defRPr>
            </a:lvl4pPr>
            <a:lvl5pPr marL="3454420" indent="0">
              <a:buNone/>
              <a:defRPr sz="2644">
                <a:solidFill>
                  <a:schemeClr val="tx1">
                    <a:tint val="75000"/>
                  </a:schemeClr>
                </a:solidFill>
              </a:defRPr>
            </a:lvl5pPr>
            <a:lvl6pPr marL="4318025" indent="0">
              <a:buNone/>
              <a:defRPr sz="2644">
                <a:solidFill>
                  <a:schemeClr val="tx1">
                    <a:tint val="75000"/>
                  </a:schemeClr>
                </a:solidFill>
              </a:defRPr>
            </a:lvl6pPr>
            <a:lvl7pPr marL="5181630" indent="0">
              <a:buNone/>
              <a:defRPr sz="2644">
                <a:solidFill>
                  <a:schemeClr val="tx1">
                    <a:tint val="75000"/>
                  </a:schemeClr>
                </a:solidFill>
              </a:defRPr>
            </a:lvl7pPr>
            <a:lvl8pPr marL="6045236" indent="0">
              <a:buNone/>
              <a:defRPr sz="2644">
                <a:solidFill>
                  <a:schemeClr val="tx1">
                    <a:tint val="75000"/>
                  </a:schemeClr>
                </a:solidFill>
              </a:defRPr>
            </a:lvl8pPr>
            <a:lvl9pPr marL="6908841" indent="0">
              <a:buNone/>
              <a:defRPr sz="26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291185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15" name="TextBox 14"/>
          <p:cNvSpPr txBox="1"/>
          <p:nvPr/>
        </p:nvSpPr>
        <p:spPr>
          <a:xfrm>
            <a:off x="13053280" y="3291840"/>
            <a:ext cx="777240" cy="701731"/>
          </a:xfrm>
          <a:prstGeom prst="rect">
            <a:avLst/>
          </a:prstGeom>
        </p:spPr>
        <p:txBody>
          <a:bodyPr vert="horz" lIns="172720" tIns="86360" rIns="172720" bIns="8636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5111">
                <a:solidFill>
                  <a:schemeClr val="tx1"/>
                </a:solidFill>
                <a:effectLst/>
              </a:rPr>
              <a:t>”</a:t>
            </a:r>
          </a:p>
        </p:txBody>
      </p:sp>
      <p:sp>
        <p:nvSpPr>
          <p:cNvPr id="11" name="TextBox 10"/>
          <p:cNvSpPr txBox="1"/>
          <p:nvPr/>
        </p:nvSpPr>
        <p:spPr>
          <a:xfrm>
            <a:off x="622551" y="988005"/>
            <a:ext cx="777240" cy="701731"/>
          </a:xfrm>
          <a:prstGeom prst="rect">
            <a:avLst/>
          </a:prstGeom>
        </p:spPr>
        <p:txBody>
          <a:bodyPr vert="horz" lIns="172720" tIns="86360" rIns="172720" bIns="8636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5111">
                <a:solidFill>
                  <a:schemeClr val="tx1"/>
                </a:solidFill>
                <a:effectLst/>
              </a:rPr>
              <a:t>“</a:t>
            </a:r>
          </a:p>
        </p:txBody>
      </p:sp>
      <p:sp>
        <p:nvSpPr>
          <p:cNvPr id="2" name="Title 1"/>
          <p:cNvSpPr>
            <a:spLocks noGrp="1"/>
          </p:cNvSpPr>
          <p:nvPr>
            <p:ph type="title"/>
          </p:nvPr>
        </p:nvSpPr>
        <p:spPr>
          <a:xfrm>
            <a:off x="1265141" y="731522"/>
            <a:ext cx="12176759" cy="3291839"/>
          </a:xfrm>
        </p:spPr>
        <p:txBody>
          <a:bodyPr anchor="ctr">
            <a:normAutofit/>
          </a:bodyPr>
          <a:lstStyle>
            <a:lvl1pPr algn="l">
              <a:defRPr sz="6044"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399790" y="4023360"/>
            <a:ext cx="11907460" cy="457200"/>
          </a:xfrm>
        </p:spPr>
        <p:txBody>
          <a:bodyPr anchor="ctr"/>
          <a:lstStyle>
            <a:lvl1pPr marL="0" indent="0">
              <a:buFontTx/>
              <a:buNone/>
              <a:defRPr/>
            </a:lvl1pPr>
            <a:lvl2pPr marL="863605" indent="0">
              <a:buFontTx/>
              <a:buNone/>
              <a:defRPr/>
            </a:lvl2pPr>
            <a:lvl3pPr marL="1727210" indent="0">
              <a:buFontTx/>
              <a:buNone/>
              <a:defRPr/>
            </a:lvl3pPr>
            <a:lvl4pPr marL="2590815" indent="0">
              <a:buFontTx/>
              <a:buNone/>
              <a:defRPr/>
            </a:lvl4pPr>
            <a:lvl5pPr marL="3454420" indent="0">
              <a:buFontTx/>
              <a:buNone/>
              <a:defRPr/>
            </a:lvl5pPr>
          </a:lstStyle>
          <a:p>
            <a:pPr lvl="0"/>
            <a:r>
              <a:rPr lang="en-US"/>
              <a:t>Click to edit Master text styles</a:t>
            </a:r>
          </a:p>
        </p:txBody>
      </p:sp>
      <p:sp>
        <p:nvSpPr>
          <p:cNvPr id="3" name="Text Placeholder 2"/>
          <p:cNvSpPr>
            <a:spLocks noGrp="1"/>
          </p:cNvSpPr>
          <p:nvPr>
            <p:ph type="body" idx="1"/>
          </p:nvPr>
        </p:nvSpPr>
        <p:spPr>
          <a:xfrm>
            <a:off x="876518" y="5212080"/>
            <a:ext cx="12944268" cy="1737360"/>
          </a:xfrm>
        </p:spPr>
        <p:txBody>
          <a:bodyPr anchor="ctr">
            <a:normAutofit/>
          </a:bodyPr>
          <a:lstStyle>
            <a:lvl1pPr marL="0" indent="0" algn="l">
              <a:buNone/>
              <a:defRPr sz="3778">
                <a:solidFill>
                  <a:schemeClr val="tx1"/>
                </a:solidFill>
              </a:defRPr>
            </a:lvl1pPr>
            <a:lvl2pPr marL="863605" indent="0">
              <a:buNone/>
              <a:defRPr sz="3400">
                <a:solidFill>
                  <a:schemeClr val="tx1">
                    <a:tint val="75000"/>
                  </a:schemeClr>
                </a:solidFill>
              </a:defRPr>
            </a:lvl2pPr>
            <a:lvl3pPr marL="1727210" indent="0">
              <a:buNone/>
              <a:defRPr sz="3022">
                <a:solidFill>
                  <a:schemeClr val="tx1">
                    <a:tint val="75000"/>
                  </a:schemeClr>
                </a:solidFill>
              </a:defRPr>
            </a:lvl3pPr>
            <a:lvl4pPr marL="2590815" indent="0">
              <a:buNone/>
              <a:defRPr sz="2644">
                <a:solidFill>
                  <a:schemeClr val="tx1">
                    <a:tint val="75000"/>
                  </a:schemeClr>
                </a:solidFill>
              </a:defRPr>
            </a:lvl4pPr>
            <a:lvl5pPr marL="3454420" indent="0">
              <a:buNone/>
              <a:defRPr sz="2644">
                <a:solidFill>
                  <a:schemeClr val="tx1">
                    <a:tint val="75000"/>
                  </a:schemeClr>
                </a:solidFill>
              </a:defRPr>
            </a:lvl5pPr>
            <a:lvl6pPr marL="4318025" indent="0">
              <a:buNone/>
              <a:defRPr sz="2644">
                <a:solidFill>
                  <a:schemeClr val="tx1">
                    <a:tint val="75000"/>
                  </a:schemeClr>
                </a:solidFill>
              </a:defRPr>
            </a:lvl6pPr>
            <a:lvl7pPr marL="5181630" indent="0">
              <a:buNone/>
              <a:defRPr sz="2644">
                <a:solidFill>
                  <a:schemeClr val="tx1">
                    <a:tint val="75000"/>
                  </a:schemeClr>
                </a:solidFill>
              </a:defRPr>
            </a:lvl7pPr>
            <a:lvl8pPr marL="6045236" indent="0">
              <a:buNone/>
              <a:defRPr sz="2644">
                <a:solidFill>
                  <a:schemeClr val="tx1">
                    <a:tint val="75000"/>
                  </a:schemeClr>
                </a:solidFill>
              </a:defRPr>
            </a:lvl8pPr>
            <a:lvl9pPr marL="6908841" indent="0">
              <a:buNone/>
              <a:defRPr sz="26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34856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a:xfrm>
            <a:off x="874398" y="3970297"/>
            <a:ext cx="12917567" cy="1762560"/>
          </a:xfrm>
        </p:spPr>
        <p:txBody>
          <a:bodyPr anchor="b">
            <a:normAutofit/>
          </a:bodyPr>
          <a:lstStyle>
            <a:lvl1pPr algn="l">
              <a:defRPr sz="6044" b="0" cap="none"/>
            </a:lvl1pPr>
          </a:lstStyle>
          <a:p>
            <a:r>
              <a:rPr lang="en-US"/>
              <a:t>Click to edit Master title style</a:t>
            </a:r>
          </a:p>
        </p:txBody>
      </p:sp>
      <p:sp>
        <p:nvSpPr>
          <p:cNvPr id="3" name="Text Placeholder 2"/>
          <p:cNvSpPr>
            <a:spLocks noGrp="1"/>
          </p:cNvSpPr>
          <p:nvPr>
            <p:ph type="body" idx="1"/>
          </p:nvPr>
        </p:nvSpPr>
        <p:spPr>
          <a:xfrm>
            <a:off x="874396" y="5732857"/>
            <a:ext cx="12917568" cy="1032480"/>
          </a:xfrm>
        </p:spPr>
        <p:txBody>
          <a:bodyPr anchor="t">
            <a:normAutofit/>
          </a:bodyPr>
          <a:lstStyle>
            <a:lvl1pPr marL="0" indent="0" algn="l">
              <a:buNone/>
              <a:defRPr sz="3778">
                <a:solidFill>
                  <a:schemeClr val="tx1"/>
                </a:solidFill>
              </a:defRPr>
            </a:lvl1pPr>
            <a:lvl2pPr marL="863605" indent="0">
              <a:buNone/>
              <a:defRPr sz="3400">
                <a:solidFill>
                  <a:schemeClr val="tx1">
                    <a:tint val="75000"/>
                  </a:schemeClr>
                </a:solidFill>
              </a:defRPr>
            </a:lvl2pPr>
            <a:lvl3pPr marL="1727210" indent="0">
              <a:buNone/>
              <a:defRPr sz="3022">
                <a:solidFill>
                  <a:schemeClr val="tx1">
                    <a:tint val="75000"/>
                  </a:schemeClr>
                </a:solidFill>
              </a:defRPr>
            </a:lvl3pPr>
            <a:lvl4pPr marL="2590815" indent="0">
              <a:buNone/>
              <a:defRPr sz="2644">
                <a:solidFill>
                  <a:schemeClr val="tx1">
                    <a:tint val="75000"/>
                  </a:schemeClr>
                </a:solidFill>
              </a:defRPr>
            </a:lvl4pPr>
            <a:lvl5pPr marL="3454420" indent="0">
              <a:buNone/>
              <a:defRPr sz="2644">
                <a:solidFill>
                  <a:schemeClr val="tx1">
                    <a:tint val="75000"/>
                  </a:schemeClr>
                </a:solidFill>
              </a:defRPr>
            </a:lvl5pPr>
            <a:lvl6pPr marL="4318025" indent="0">
              <a:buNone/>
              <a:defRPr sz="2644">
                <a:solidFill>
                  <a:schemeClr val="tx1">
                    <a:tint val="75000"/>
                  </a:schemeClr>
                </a:solidFill>
              </a:defRPr>
            </a:lvl6pPr>
            <a:lvl7pPr marL="5181630" indent="0">
              <a:buNone/>
              <a:defRPr sz="2644">
                <a:solidFill>
                  <a:schemeClr val="tx1">
                    <a:tint val="75000"/>
                  </a:schemeClr>
                </a:solidFill>
              </a:defRPr>
            </a:lvl7pPr>
            <a:lvl8pPr marL="6045236" indent="0">
              <a:buNone/>
              <a:defRPr sz="2644">
                <a:solidFill>
                  <a:schemeClr val="tx1">
                    <a:tint val="75000"/>
                  </a:schemeClr>
                </a:solidFill>
              </a:defRPr>
            </a:lvl8pPr>
            <a:lvl9pPr marL="6908841" indent="0">
              <a:buNone/>
              <a:defRPr sz="26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248832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13" name="TextBox 12"/>
          <p:cNvSpPr txBox="1"/>
          <p:nvPr/>
        </p:nvSpPr>
        <p:spPr>
          <a:xfrm>
            <a:off x="13053280" y="3291840"/>
            <a:ext cx="777240" cy="701731"/>
          </a:xfrm>
          <a:prstGeom prst="rect">
            <a:avLst/>
          </a:prstGeom>
        </p:spPr>
        <p:txBody>
          <a:bodyPr vert="horz" lIns="172720" tIns="86360" rIns="172720" bIns="8636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5111">
                <a:solidFill>
                  <a:schemeClr val="tx1"/>
                </a:solidFill>
                <a:effectLst/>
              </a:rPr>
              <a:t>”</a:t>
            </a:r>
          </a:p>
        </p:txBody>
      </p:sp>
      <p:sp>
        <p:nvSpPr>
          <p:cNvPr id="14" name="TextBox 13"/>
          <p:cNvSpPr txBox="1"/>
          <p:nvPr/>
        </p:nvSpPr>
        <p:spPr>
          <a:xfrm>
            <a:off x="622551" y="988005"/>
            <a:ext cx="777240" cy="701731"/>
          </a:xfrm>
          <a:prstGeom prst="rect">
            <a:avLst/>
          </a:prstGeom>
        </p:spPr>
        <p:txBody>
          <a:bodyPr vert="horz" lIns="172720" tIns="86360" rIns="172720" bIns="8636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5111">
                <a:solidFill>
                  <a:schemeClr val="tx1"/>
                </a:solidFill>
                <a:effectLst/>
              </a:rPr>
              <a:t>“</a:t>
            </a:r>
          </a:p>
        </p:txBody>
      </p:sp>
      <p:sp>
        <p:nvSpPr>
          <p:cNvPr id="16" name="Title 1"/>
          <p:cNvSpPr>
            <a:spLocks noGrp="1"/>
          </p:cNvSpPr>
          <p:nvPr>
            <p:ph type="title"/>
          </p:nvPr>
        </p:nvSpPr>
        <p:spPr>
          <a:xfrm>
            <a:off x="1265141" y="731522"/>
            <a:ext cx="12176759" cy="3291839"/>
          </a:xfrm>
        </p:spPr>
        <p:txBody>
          <a:bodyPr anchor="ctr">
            <a:normAutofit/>
          </a:bodyPr>
          <a:lstStyle>
            <a:lvl1pPr algn="l">
              <a:defRPr sz="6044"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874395" y="4663440"/>
            <a:ext cx="12922681" cy="1066800"/>
          </a:xfrm>
        </p:spPr>
        <p:txBody>
          <a:bodyPr vert="horz" lIns="91440" tIns="45720" rIns="91440" bIns="45720" rtlCol="0" anchor="b">
            <a:normAutofit/>
          </a:bodyPr>
          <a:lstStyle>
            <a:lvl1pPr>
              <a:buNone/>
              <a:defRPr lang="en-US" sz="4533"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74394" y="5730240"/>
            <a:ext cx="12922681" cy="1219200"/>
          </a:xfrm>
        </p:spPr>
        <p:txBody>
          <a:bodyPr anchor="t">
            <a:normAutofit/>
          </a:bodyPr>
          <a:lstStyle>
            <a:lvl1pPr marL="0" indent="0" algn="l">
              <a:buNone/>
              <a:defRPr sz="3400">
                <a:solidFill>
                  <a:schemeClr val="tx1"/>
                </a:solidFill>
              </a:defRPr>
            </a:lvl1pPr>
            <a:lvl2pPr marL="863605" indent="0">
              <a:buNone/>
              <a:defRPr sz="3400">
                <a:solidFill>
                  <a:schemeClr val="tx1">
                    <a:tint val="75000"/>
                  </a:schemeClr>
                </a:solidFill>
              </a:defRPr>
            </a:lvl2pPr>
            <a:lvl3pPr marL="1727210" indent="0">
              <a:buNone/>
              <a:defRPr sz="3022">
                <a:solidFill>
                  <a:schemeClr val="tx1">
                    <a:tint val="75000"/>
                  </a:schemeClr>
                </a:solidFill>
              </a:defRPr>
            </a:lvl3pPr>
            <a:lvl4pPr marL="2590815" indent="0">
              <a:buNone/>
              <a:defRPr sz="2644">
                <a:solidFill>
                  <a:schemeClr val="tx1">
                    <a:tint val="75000"/>
                  </a:schemeClr>
                </a:solidFill>
              </a:defRPr>
            </a:lvl4pPr>
            <a:lvl5pPr marL="3454420" indent="0">
              <a:buNone/>
              <a:defRPr sz="2644">
                <a:solidFill>
                  <a:schemeClr val="tx1">
                    <a:tint val="75000"/>
                  </a:schemeClr>
                </a:solidFill>
              </a:defRPr>
            </a:lvl5pPr>
            <a:lvl6pPr marL="4318025" indent="0">
              <a:buNone/>
              <a:defRPr sz="2644">
                <a:solidFill>
                  <a:schemeClr val="tx1">
                    <a:tint val="75000"/>
                  </a:schemeClr>
                </a:solidFill>
              </a:defRPr>
            </a:lvl6pPr>
            <a:lvl7pPr marL="5181630" indent="0">
              <a:buNone/>
              <a:defRPr sz="2644">
                <a:solidFill>
                  <a:schemeClr val="tx1">
                    <a:tint val="75000"/>
                  </a:schemeClr>
                </a:solidFill>
              </a:defRPr>
            </a:lvl7pPr>
            <a:lvl8pPr marL="6045236" indent="0">
              <a:buNone/>
              <a:defRPr sz="2644">
                <a:solidFill>
                  <a:schemeClr val="tx1">
                    <a:tint val="75000"/>
                  </a:schemeClr>
                </a:solidFill>
              </a:defRPr>
            </a:lvl8pPr>
            <a:lvl9pPr marL="6908841" indent="0">
              <a:buNone/>
              <a:defRPr sz="26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08646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Title 1"/>
          <p:cNvSpPr>
            <a:spLocks noGrp="1"/>
          </p:cNvSpPr>
          <p:nvPr>
            <p:ph type="title"/>
          </p:nvPr>
        </p:nvSpPr>
        <p:spPr>
          <a:xfrm>
            <a:off x="874397" y="731522"/>
            <a:ext cx="12917569" cy="329183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874396" y="4206240"/>
            <a:ext cx="12917571" cy="1005840"/>
          </a:xfrm>
        </p:spPr>
        <p:txBody>
          <a:bodyPr vert="horz" lIns="91440" tIns="45720" rIns="91440" bIns="45720" rtlCol="0" anchor="b">
            <a:normAutofit/>
          </a:bodyPr>
          <a:lstStyle>
            <a:lvl1pPr>
              <a:buNone/>
              <a:defRPr lang="en-US" sz="528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74395" y="5212080"/>
            <a:ext cx="12917571" cy="1737360"/>
          </a:xfrm>
        </p:spPr>
        <p:txBody>
          <a:bodyPr anchor="t">
            <a:normAutofit/>
          </a:bodyPr>
          <a:lstStyle>
            <a:lvl1pPr marL="0" indent="0" algn="l">
              <a:buNone/>
              <a:defRPr sz="3400">
                <a:solidFill>
                  <a:schemeClr val="tx1"/>
                </a:solidFill>
              </a:defRPr>
            </a:lvl1pPr>
            <a:lvl2pPr marL="863605" indent="0">
              <a:buNone/>
              <a:defRPr sz="3400">
                <a:solidFill>
                  <a:schemeClr val="tx1">
                    <a:tint val="75000"/>
                  </a:schemeClr>
                </a:solidFill>
              </a:defRPr>
            </a:lvl2pPr>
            <a:lvl3pPr marL="1727210" indent="0">
              <a:buNone/>
              <a:defRPr sz="3022">
                <a:solidFill>
                  <a:schemeClr val="tx1">
                    <a:tint val="75000"/>
                  </a:schemeClr>
                </a:solidFill>
              </a:defRPr>
            </a:lvl3pPr>
            <a:lvl4pPr marL="2590815" indent="0">
              <a:buNone/>
              <a:defRPr sz="2644">
                <a:solidFill>
                  <a:schemeClr val="tx1">
                    <a:tint val="75000"/>
                  </a:schemeClr>
                </a:solidFill>
              </a:defRPr>
            </a:lvl4pPr>
            <a:lvl5pPr marL="3454420" indent="0">
              <a:buNone/>
              <a:defRPr sz="2644">
                <a:solidFill>
                  <a:schemeClr val="tx1">
                    <a:tint val="75000"/>
                  </a:schemeClr>
                </a:solidFill>
              </a:defRPr>
            </a:lvl5pPr>
            <a:lvl6pPr marL="4318025" indent="0">
              <a:buNone/>
              <a:defRPr sz="2644">
                <a:solidFill>
                  <a:schemeClr val="tx1">
                    <a:tint val="75000"/>
                  </a:schemeClr>
                </a:solidFill>
              </a:defRPr>
            </a:lvl6pPr>
            <a:lvl7pPr marL="5181630" indent="0">
              <a:buNone/>
              <a:defRPr sz="2644">
                <a:solidFill>
                  <a:schemeClr val="tx1">
                    <a:tint val="75000"/>
                  </a:schemeClr>
                </a:solidFill>
              </a:defRPr>
            </a:lvl7pPr>
            <a:lvl8pPr marL="6045236" indent="0">
              <a:buNone/>
              <a:defRPr sz="2644">
                <a:solidFill>
                  <a:schemeClr val="tx1">
                    <a:tint val="75000"/>
                  </a:schemeClr>
                </a:solidFill>
              </a:defRPr>
            </a:lvl8pPr>
            <a:lvl9pPr marL="6908841" indent="0">
              <a:buNone/>
              <a:defRPr sz="26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055705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8" name="Title 1"/>
          <p:cNvSpPr>
            <a:spLocks noGrp="1"/>
          </p:cNvSpPr>
          <p:nvPr>
            <p:ph type="title"/>
          </p:nvPr>
        </p:nvSpPr>
        <p:spPr>
          <a:xfrm>
            <a:off x="874397" y="731521"/>
            <a:ext cx="12917567" cy="1747520"/>
          </a:xfrm>
        </p:spPr>
        <p:txBody>
          <a:bodyPr/>
          <a:lstStyle/>
          <a:p>
            <a:r>
              <a:rPr lang="en-US"/>
              <a:t>Click to edit Master title style</a:t>
            </a:r>
          </a:p>
        </p:txBody>
      </p:sp>
    </p:spTree>
    <p:extLst>
      <p:ext uri="{BB962C8B-B14F-4D97-AF65-F5344CB8AC3E}">
        <p14:creationId xmlns:p14="http://schemas.microsoft.com/office/powerpoint/2010/main" val="22834138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5540752" cy="8227457"/>
          </a:xfrm>
          <a:prstGeom prst="rect">
            <a:avLst/>
          </a:prstGeom>
        </p:spPr>
      </p:pic>
      <p:sp>
        <p:nvSpPr>
          <p:cNvPr id="2" name="Vertical Title 1"/>
          <p:cNvSpPr>
            <a:spLocks noGrp="1"/>
          </p:cNvSpPr>
          <p:nvPr>
            <p:ph type="title" orient="vert"/>
          </p:nvPr>
        </p:nvSpPr>
        <p:spPr>
          <a:xfrm>
            <a:off x="11039811" y="731520"/>
            <a:ext cx="2752154" cy="62179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74395" y="731520"/>
            <a:ext cx="9985948" cy="621792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370433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74397" y="731521"/>
            <a:ext cx="12917567" cy="1747520"/>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74397" y="2570481"/>
            <a:ext cx="12917567" cy="437896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51817" y="7044691"/>
            <a:ext cx="2040255" cy="453390"/>
          </a:xfrm>
          <a:prstGeom prst="rect">
            <a:avLst/>
          </a:prstGeom>
        </p:spPr>
        <p:txBody>
          <a:bodyPr vert="horz" lIns="91440" tIns="45720" rIns="91440" bIns="45720" rtlCol="0" anchor="ctr"/>
          <a:lstStyle>
            <a:lvl1pPr algn="r">
              <a:defRPr sz="1889" b="0" i="0">
                <a:solidFill>
                  <a:schemeClr val="tx1"/>
                </a:solidFill>
                <a:effectLst/>
                <a:latin typeface="+mn-lt"/>
              </a:defRPr>
            </a:lvl1pPr>
          </a:lstStyle>
          <a:p>
            <a:fld id="{B61BEF0D-F0BB-DE4B-95CE-6DB70DBA9567}" type="datetimeFigureOut">
              <a:rPr lang="en-US" dirty="0"/>
              <a:pPr/>
              <a:t>11/2/2025</a:t>
            </a:fld>
            <a:endParaRPr lang="en-US"/>
          </a:p>
        </p:txBody>
      </p:sp>
      <p:sp>
        <p:nvSpPr>
          <p:cNvPr id="5" name="Footer Placeholder 4"/>
          <p:cNvSpPr>
            <a:spLocks noGrp="1"/>
          </p:cNvSpPr>
          <p:nvPr>
            <p:ph type="ftr" sz="quarter" idx="3"/>
          </p:nvPr>
        </p:nvSpPr>
        <p:spPr>
          <a:xfrm>
            <a:off x="874396" y="7044691"/>
            <a:ext cx="9980265" cy="453390"/>
          </a:xfrm>
          <a:prstGeom prst="rect">
            <a:avLst/>
          </a:prstGeom>
        </p:spPr>
        <p:txBody>
          <a:bodyPr vert="horz" lIns="91440" tIns="45720" rIns="91440" bIns="45720" rtlCol="0" anchor="ctr"/>
          <a:lstStyle>
            <a:lvl1pPr algn="l">
              <a:defRPr sz="1889"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3089227" y="7044691"/>
            <a:ext cx="702738" cy="453390"/>
          </a:xfrm>
          <a:prstGeom prst="rect">
            <a:avLst/>
          </a:prstGeom>
        </p:spPr>
        <p:txBody>
          <a:bodyPr vert="horz" lIns="91440" tIns="45720" rIns="91440" bIns="45720" rtlCol="0" anchor="ctr"/>
          <a:lstStyle>
            <a:lvl1pPr algn="r">
              <a:defRPr sz="1889"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390461528"/>
      </p:ext>
    </p:extLst>
  </p:cSld>
  <p:clrMap bg1="dk1" tx1="lt1" bg2="dk2" tx2="lt2" accent1="accent1" accent2="accent2" accent3="accent3" accent4="accent4" accent5="accent5" accent6="accent6" hlink="hlink" folHlink="folHlink"/>
  <p:sldLayoutIdLst>
    <p:sldLayoutId id="2147484511" r:id="rId1"/>
    <p:sldLayoutId id="2147484512" r:id="rId2"/>
    <p:sldLayoutId id="2147484513" r:id="rId3"/>
    <p:sldLayoutId id="2147484514" r:id="rId4"/>
    <p:sldLayoutId id="2147484515" r:id="rId5"/>
    <p:sldLayoutId id="2147484516" r:id="rId6"/>
    <p:sldLayoutId id="2147484517" r:id="rId7"/>
    <p:sldLayoutId id="2147484518" r:id="rId8"/>
    <p:sldLayoutId id="2147484519" r:id="rId9"/>
    <p:sldLayoutId id="2147484520" r:id="rId10"/>
    <p:sldLayoutId id="2147484521" r:id="rId11"/>
    <p:sldLayoutId id="2147484522" r:id="rId12"/>
    <p:sldLayoutId id="2147484523" r:id="rId13"/>
    <p:sldLayoutId id="2147484524" r:id="rId14"/>
    <p:sldLayoutId id="2147484525" r:id="rId15"/>
    <p:sldLayoutId id="2147484526" r:id="rId16"/>
    <p:sldLayoutId id="2147484527" r:id="rId17"/>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vishal-chavanke-b96839268"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github.com/vishal0425"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30212" y="9877"/>
            <a:ext cx="15514588" cy="8219723"/>
          </a:xfrm>
          <a:prstGeom prst="rect">
            <a:avLst/>
          </a:prstGeom>
          <a:noFill/>
          <a:ln>
            <a:noFill/>
          </a:ln>
        </p:spPr>
      </p:pic>
      <p:sp>
        <p:nvSpPr>
          <p:cNvPr id="99" name="Google Shape;99;p1"/>
          <p:cNvSpPr txBox="1"/>
          <p:nvPr/>
        </p:nvSpPr>
        <p:spPr>
          <a:xfrm>
            <a:off x="3454476" y="4470020"/>
            <a:ext cx="8656596" cy="1313158"/>
          </a:xfrm>
          <a:prstGeom prst="rect">
            <a:avLst/>
          </a:prstGeom>
          <a:noFill/>
          <a:ln>
            <a:noFill/>
          </a:ln>
        </p:spPr>
        <p:txBody>
          <a:bodyPr spcFirstLastPara="1" wrap="square" lIns="50792" tIns="25389" rIns="50792" bIns="25389"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br>
              <a:rPr lang="en-IN" sz="1800" b="0" i="0" u="none" strike="noStrike" cap="none" dirty="0">
                <a:latin typeface="Calibri"/>
                <a:ea typeface="Calibri"/>
                <a:cs typeface="Calibri"/>
              </a:rPr>
            </a:br>
            <a:r>
              <a:rPr lang="en-IN" sz="3200" b="1" dirty="0">
                <a:ea typeface="Calibri"/>
              </a:rPr>
              <a:t>Exploring Agri-Market Insights Price Trends and Market Intelligence</a:t>
            </a:r>
            <a:endParaRPr lang="en-IN" sz="3200" b="1" dirty="0">
              <a:solidFill>
                <a:schemeClr val="dk1"/>
              </a:solidFill>
              <a:latin typeface="Calibri"/>
              <a:ea typeface="Calibri"/>
              <a:cs typeface="Calibri"/>
            </a:endParaRPr>
          </a:p>
        </p:txBody>
      </p:sp>
      <p:sp>
        <p:nvSpPr>
          <p:cNvPr id="2" name="TextBox 1">
            <a:extLst>
              <a:ext uri="{FF2B5EF4-FFF2-40B4-BE49-F238E27FC236}">
                <a16:creationId xmlns:a16="http://schemas.microsoft.com/office/drawing/2014/main" id="{491A22A1-E461-4116-C45B-C75A6C1927FA}"/>
              </a:ext>
            </a:extLst>
          </p:cNvPr>
          <p:cNvSpPr txBox="1"/>
          <p:nvPr/>
        </p:nvSpPr>
        <p:spPr>
          <a:xfrm>
            <a:off x="10381604" y="6791827"/>
            <a:ext cx="4096396" cy="420628"/>
          </a:xfrm>
          <a:prstGeom prst="rect">
            <a:avLst/>
          </a:prstGeom>
          <a:noFill/>
          <a:ln>
            <a:solidFill>
              <a:schemeClr val="bg1"/>
            </a:solidFill>
          </a:ln>
        </p:spPr>
        <p:txBody>
          <a:bodyPr rot="0" spcFirstLastPara="0" vertOverflow="overflow" horzOverflow="overflow" vert="horz" wrap="square" lIns="50800" tIns="25400" rIns="50800" bIns="2540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r>
              <a:rPr lang="en-US" sz="2400" b="1" i="1" dirty="0"/>
              <a:t>By – Vishal  Chavanke...</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53" presetClass="entr" presetSubtype="16" fill="hold" nodeType="withEffect">
                                  <p:stCondLst>
                                    <p:cond delay="0"/>
                                  </p:stCondLst>
                                  <p:childTnLst>
                                    <p:set>
                                      <p:cBhvr>
                                        <p:cTn id="9" dur="1" fill="hold">
                                          <p:stCondLst>
                                            <p:cond delay="0"/>
                                          </p:stCondLst>
                                        </p:cTn>
                                        <p:tgtEl>
                                          <p:spTgt spid="99">
                                            <p:txEl>
                                              <p:pRg st="0" end="0"/>
                                            </p:txEl>
                                          </p:spTgt>
                                        </p:tgtEl>
                                        <p:attrNameLst>
                                          <p:attrName>style.visibility</p:attrName>
                                        </p:attrNameLst>
                                      </p:cBhvr>
                                      <p:to>
                                        <p:strVal val="visible"/>
                                      </p:to>
                                    </p:set>
                                    <p:anim calcmode="lin" valueType="num">
                                      <p:cBhvr>
                                        <p:cTn id="10" dur="500" fill="hold"/>
                                        <p:tgtEl>
                                          <p:spTgt spid="99">
                                            <p:txEl>
                                              <p:pRg st="0" end="0"/>
                                            </p:txEl>
                                          </p:spTgt>
                                        </p:tgtEl>
                                        <p:attrNameLst>
                                          <p:attrName>ppt_w</p:attrName>
                                        </p:attrNameLst>
                                      </p:cBhvr>
                                      <p:tavLst>
                                        <p:tav tm="0">
                                          <p:val>
                                            <p:fltVal val="0"/>
                                          </p:val>
                                        </p:tav>
                                        <p:tav tm="100000">
                                          <p:val>
                                            <p:strVal val="#ppt_w"/>
                                          </p:val>
                                        </p:tav>
                                      </p:tavLst>
                                    </p:anim>
                                    <p:anim calcmode="lin" valueType="num">
                                      <p:cBhvr>
                                        <p:cTn id="11" dur="500" fill="hold"/>
                                        <p:tgtEl>
                                          <p:spTgt spid="99">
                                            <p:txEl>
                                              <p:pRg st="0" end="0"/>
                                            </p:txEl>
                                          </p:spTgt>
                                        </p:tgtEl>
                                        <p:attrNameLst>
                                          <p:attrName>ppt_h</p:attrName>
                                        </p:attrNameLst>
                                      </p:cBhvr>
                                      <p:tavLst>
                                        <p:tav tm="0">
                                          <p:val>
                                            <p:fltVal val="0"/>
                                          </p:val>
                                        </p:tav>
                                        <p:tav tm="100000">
                                          <p:val>
                                            <p:strVal val="#ppt_h"/>
                                          </p:val>
                                        </p:tav>
                                      </p:tavLst>
                                    </p:anim>
                                    <p:animEffect transition="in" filter="fade">
                                      <p:cBhvr>
                                        <p:cTn id="12" dur="500"/>
                                        <p:tgtEl>
                                          <p:spTgt spid="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a:extLst>
              <a:ext uri="{FF2B5EF4-FFF2-40B4-BE49-F238E27FC236}">
                <a16:creationId xmlns:a16="http://schemas.microsoft.com/office/drawing/2014/main" id="{09F4F607-BFBB-1830-99F6-F9EB317E281C}"/>
              </a:ext>
            </a:extLst>
          </p:cNvPr>
          <p:cNvSpPr txBox="1"/>
          <p:nvPr/>
        </p:nvSpPr>
        <p:spPr>
          <a:xfrm>
            <a:off x="1649789" y="2360309"/>
            <a:ext cx="12253940" cy="3498394"/>
          </a:xfrm>
          <a:prstGeom prst="rect">
            <a:avLst/>
          </a:prstGeom>
          <a:noFill/>
        </p:spPr>
        <p:txBody>
          <a:bodyPr rot="0" spcFirstLastPara="0" vertOverflow="overflow" horzOverflow="overflow" vert="horz" wrap="square" lIns="50800" tIns="25400" rIns="50800" bIns="25400" numCol="1" spcCol="0" rtlCol="0" fromWordArt="0" anchor="b"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marL="158115" indent="-158115">
              <a:buFont typeface="Wingdings"/>
              <a:buChar char="Ø"/>
            </a:pPr>
            <a:r>
              <a:rPr lang="en-US" sz="3200" b="1" dirty="0">
                <a:solidFill>
                  <a:schemeClr val="tx1"/>
                </a:solidFill>
              </a:rPr>
              <a:t>Name:- </a:t>
            </a:r>
            <a:r>
              <a:rPr lang="en-US" sz="3200" dirty="0">
                <a:solidFill>
                  <a:schemeClr val="tx1"/>
                </a:solidFill>
              </a:rPr>
              <a:t>Vishal </a:t>
            </a:r>
            <a:r>
              <a:rPr lang="en-US" sz="3200" dirty="0" err="1">
                <a:solidFill>
                  <a:schemeClr val="tx1"/>
                </a:solidFill>
              </a:rPr>
              <a:t>Khanderao</a:t>
            </a:r>
            <a:r>
              <a:rPr lang="en-US" sz="3200" dirty="0">
                <a:solidFill>
                  <a:schemeClr val="tx1"/>
                </a:solidFill>
              </a:rPr>
              <a:t> Chavanke.</a:t>
            </a:r>
          </a:p>
          <a:p>
            <a:pPr marL="158115" indent="-158115">
              <a:buFont typeface="Wingdings"/>
              <a:buChar char="Ø"/>
            </a:pPr>
            <a:endParaRPr lang="en-US" sz="3200" dirty="0">
              <a:solidFill>
                <a:schemeClr val="tx1"/>
              </a:solidFill>
            </a:endParaRPr>
          </a:p>
          <a:p>
            <a:pPr marL="158115" indent="-158115">
              <a:buFont typeface="Wingdings"/>
              <a:buChar char="Ø"/>
            </a:pPr>
            <a:r>
              <a:rPr lang="en-US" sz="3200" b="1" dirty="0">
                <a:solidFill>
                  <a:schemeClr val="tx1"/>
                </a:solidFill>
              </a:rPr>
              <a:t>Education:- </a:t>
            </a:r>
            <a:r>
              <a:rPr lang="en-US" sz="3200" dirty="0">
                <a:solidFill>
                  <a:schemeClr val="tx1"/>
                </a:solidFill>
              </a:rPr>
              <a:t>B.sc Computer Science.</a:t>
            </a:r>
          </a:p>
          <a:p>
            <a:pPr marL="158115" indent="-158115">
              <a:buFont typeface="Wingdings"/>
              <a:buChar char="Ø"/>
            </a:pPr>
            <a:endParaRPr lang="en-US" sz="3200" b="1" dirty="0">
              <a:solidFill>
                <a:schemeClr val="tx1"/>
              </a:solidFill>
            </a:endParaRPr>
          </a:p>
          <a:p>
            <a:pPr marL="285750" indent="-285750">
              <a:buFont typeface="Wingdings"/>
              <a:buChar char="Ø"/>
            </a:pPr>
            <a:r>
              <a:rPr lang="en-US" sz="3200" b="1" dirty="0" err="1">
                <a:solidFill>
                  <a:schemeClr val="tx1"/>
                </a:solidFill>
              </a:rPr>
              <a:t>Linkedin</a:t>
            </a:r>
            <a:r>
              <a:rPr lang="en-US" sz="3200" b="1" dirty="0">
                <a:solidFill>
                  <a:schemeClr val="tx1"/>
                </a:solidFill>
              </a:rPr>
              <a:t>:- </a:t>
            </a:r>
            <a:r>
              <a:rPr lang="en-US" sz="3200" dirty="0">
                <a:solidFill>
                  <a:srgbClr val="0070C0"/>
                </a:solidFill>
                <a:hlinkClick r:id="rId3">
                  <a:extLst>
                    <a:ext uri="{A12FA001-AC4F-418D-AE19-62706E023703}">
                      <ahyp:hlinkClr xmlns:ahyp="http://schemas.microsoft.com/office/drawing/2018/hyperlinkcolor" val="tx"/>
                    </a:ext>
                  </a:extLst>
                </a:hlinkClick>
              </a:rPr>
              <a:t>www.linkedin.com/in/vishal-chavanke-b96839268</a:t>
            </a:r>
            <a:endParaRPr lang="en-US" sz="3200" dirty="0">
              <a:solidFill>
                <a:srgbClr val="0070C0"/>
              </a:solidFill>
            </a:endParaRPr>
          </a:p>
          <a:p>
            <a:pPr marL="158115" indent="-158115">
              <a:buFont typeface="Wingdings"/>
              <a:buChar char="Ø"/>
            </a:pPr>
            <a:endParaRPr lang="en-US" sz="3200" b="1" dirty="0">
              <a:solidFill>
                <a:schemeClr val="bg2">
                  <a:lumMod val="40000"/>
                  <a:lumOff val="60000"/>
                </a:schemeClr>
              </a:solidFill>
            </a:endParaRPr>
          </a:p>
          <a:p>
            <a:pPr marL="158115" indent="-158115" algn="just">
              <a:buFont typeface="Wingdings"/>
              <a:buChar char="Ø"/>
            </a:pPr>
            <a:r>
              <a:rPr lang="en-US" sz="3200" b="1" dirty="0" err="1">
                <a:solidFill>
                  <a:schemeClr val="tx1"/>
                </a:solidFill>
              </a:rPr>
              <a:t>Github</a:t>
            </a:r>
            <a:r>
              <a:rPr lang="en-US" sz="3200" b="1" dirty="0">
                <a:solidFill>
                  <a:schemeClr val="tx1"/>
                </a:solidFill>
              </a:rPr>
              <a:t>:-</a:t>
            </a:r>
            <a:r>
              <a:rPr lang="en-US" sz="3200" b="1" dirty="0">
                <a:solidFill>
                  <a:schemeClr val="bg2">
                    <a:lumMod val="40000"/>
                    <a:lumOff val="60000"/>
                  </a:schemeClr>
                </a:solidFill>
              </a:rPr>
              <a:t> </a:t>
            </a:r>
            <a:r>
              <a:rPr lang="en-US" sz="3200" dirty="0">
                <a:solidFill>
                  <a:srgbClr val="0070C0"/>
                </a:solidFill>
                <a:hlinkClick r:id="rId4">
                  <a:extLst>
                    <a:ext uri="{A12FA001-AC4F-418D-AE19-62706E023703}">
                      <ahyp:hlinkClr xmlns:ahyp="http://schemas.microsoft.com/office/drawing/2018/hyperlinkcolor" val="tx"/>
                    </a:ext>
                  </a:extLst>
                </a:hlinkClick>
              </a:rPr>
              <a:t>https://github.com/vishal0425</a:t>
            </a:r>
            <a:endParaRPr lang="en-US" sz="3200" dirty="0">
              <a:solidFill>
                <a:srgbClr val="0070C0"/>
              </a:solidFill>
            </a:endParaRPr>
          </a:p>
        </p:txBody>
      </p:sp>
      <p:sp>
        <p:nvSpPr>
          <p:cNvPr id="3" name="Rectangle 2">
            <a:extLst>
              <a:ext uri="{FF2B5EF4-FFF2-40B4-BE49-F238E27FC236}">
                <a16:creationId xmlns:a16="http://schemas.microsoft.com/office/drawing/2014/main" id="{A50522F6-2524-3DD4-95EC-C81F190B8809}"/>
              </a:ext>
            </a:extLst>
          </p:cNvPr>
          <p:cNvSpPr/>
          <p:nvPr/>
        </p:nvSpPr>
        <p:spPr>
          <a:xfrm flipH="1" flipV="1">
            <a:off x="15468491" y="7983520"/>
            <a:ext cx="75157" cy="1579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marL="158115" lvl="0" indent="-158115" rtl="0">
              <a:buFont typeface="Wingdings,Sans-Serif"/>
              <a:buChar char="Ø"/>
            </a:pPr>
            <a:endParaRPr lang="en-US" sz="1800">
              <a:latin typeface="Arial"/>
              <a:cs typeface="Arial"/>
            </a:endParaRPr>
          </a:p>
        </p:txBody>
      </p:sp>
      <p:sp>
        <p:nvSpPr>
          <p:cNvPr id="6" name="TextBox 5">
            <a:extLst>
              <a:ext uri="{FF2B5EF4-FFF2-40B4-BE49-F238E27FC236}">
                <a16:creationId xmlns:a16="http://schemas.microsoft.com/office/drawing/2014/main" id="{38251EA1-C94A-98EE-F2C1-3C7608D24615}"/>
              </a:ext>
            </a:extLst>
          </p:cNvPr>
          <p:cNvSpPr txBox="1"/>
          <p:nvPr/>
        </p:nvSpPr>
        <p:spPr>
          <a:xfrm>
            <a:off x="603669" y="378659"/>
            <a:ext cx="446849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solidFill>
                  <a:schemeClr val="tx1"/>
                </a:solidFill>
                <a:latin typeface="Lato Black"/>
                <a:ea typeface="Lato Black"/>
                <a:cs typeface="Lato Black"/>
              </a:rPr>
              <a:t>About me:-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A043BBE5-4FF8-DA09-5C7F-F1D63A0C5B57}"/>
              </a:ext>
            </a:extLst>
          </p:cNvPr>
          <p:cNvSpPr txBox="1"/>
          <p:nvPr/>
        </p:nvSpPr>
        <p:spPr>
          <a:xfrm>
            <a:off x="403043" y="1466015"/>
            <a:ext cx="11917311" cy="23529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Wingdings"/>
              <a:buChar char="Ø"/>
            </a:pPr>
            <a:r>
              <a:rPr lang="en-US" sz="2000" dirty="0"/>
              <a:t>Farmers work hard to grow their crops but face </a:t>
            </a:r>
            <a:r>
              <a:rPr lang="en-US" sz="2000" b="1" dirty="0"/>
              <a:t>Difficulties when selling crops</a:t>
            </a:r>
            <a:r>
              <a:rPr lang="en-US" sz="2000" dirty="0"/>
              <a:t>,  they do not know which market offers better prices.</a:t>
            </a:r>
          </a:p>
          <a:p>
            <a:pPr marL="457200" indent="-457200">
              <a:lnSpc>
                <a:spcPct val="150000"/>
              </a:lnSpc>
              <a:buFont typeface="Wingdings"/>
              <a:buChar char="Ø"/>
            </a:pPr>
            <a:r>
              <a:rPr lang="en-US" sz="2000" dirty="0"/>
              <a:t>Without this clear information, they often sell to </a:t>
            </a:r>
            <a:r>
              <a:rPr lang="en-US" sz="2000" b="1" dirty="0"/>
              <a:t>local vendors at lower rates</a:t>
            </a:r>
            <a:r>
              <a:rPr lang="en-US" sz="2000" dirty="0"/>
              <a:t> and later regret missing higher prices in other markets.</a:t>
            </a:r>
          </a:p>
          <a:p>
            <a:pPr marL="457200" indent="-457200">
              <a:lnSpc>
                <a:spcPct val="150000"/>
              </a:lnSpc>
              <a:buFont typeface="Wingdings"/>
              <a:buChar char="Ø"/>
            </a:pPr>
            <a:r>
              <a:rPr lang="en-US" sz="2000" dirty="0"/>
              <a:t>Farmers don’t know which market will give them the best price.</a:t>
            </a:r>
            <a:endParaRPr lang="en-US" sz="2000" dirty="0">
              <a:solidFill>
                <a:schemeClr val="tx1"/>
              </a:solidFill>
            </a:endParaRPr>
          </a:p>
        </p:txBody>
      </p:sp>
      <p:sp>
        <p:nvSpPr>
          <p:cNvPr id="6" name="TextBox 5">
            <a:extLst>
              <a:ext uri="{FF2B5EF4-FFF2-40B4-BE49-F238E27FC236}">
                <a16:creationId xmlns:a16="http://schemas.microsoft.com/office/drawing/2014/main" id="{CBFC402C-EDB1-A357-077A-6453B5407894}"/>
              </a:ext>
            </a:extLst>
          </p:cNvPr>
          <p:cNvSpPr txBox="1"/>
          <p:nvPr/>
        </p:nvSpPr>
        <p:spPr>
          <a:xfrm>
            <a:off x="403043" y="5205511"/>
            <a:ext cx="9388657" cy="28973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Wingdings"/>
              <a:buChar char="Ø"/>
            </a:pPr>
            <a:r>
              <a:rPr lang="en-US" sz="2000" dirty="0">
                <a:solidFill>
                  <a:schemeClr val="tx1"/>
                </a:solidFill>
              </a:rPr>
              <a:t>To </a:t>
            </a:r>
            <a:r>
              <a:rPr lang="en-US" sz="2000" b="1" dirty="0">
                <a:solidFill>
                  <a:schemeClr val="tx1"/>
                </a:solidFill>
              </a:rPr>
              <a:t>analyze market-wise and district-wise prices</a:t>
            </a:r>
            <a:r>
              <a:rPr lang="en-US" sz="2000" dirty="0">
                <a:solidFill>
                  <a:schemeClr val="tx1"/>
                </a:solidFill>
              </a:rPr>
              <a:t> for different </a:t>
            </a:r>
            <a:r>
              <a:rPr lang="en-US" sz="2000" dirty="0" err="1">
                <a:solidFill>
                  <a:schemeClr val="tx1"/>
                </a:solidFill>
              </a:rPr>
              <a:t>Varities</a:t>
            </a:r>
            <a:r>
              <a:rPr lang="en-US" sz="2000" dirty="0">
                <a:solidFill>
                  <a:schemeClr val="tx1"/>
                </a:solidFill>
              </a:rPr>
              <a:t>.</a:t>
            </a:r>
          </a:p>
          <a:p>
            <a:pPr marL="342900" lvl="1" indent="-342900">
              <a:lnSpc>
                <a:spcPct val="150000"/>
              </a:lnSpc>
              <a:buFont typeface="Wingdings"/>
              <a:buChar char="Ø"/>
            </a:pPr>
            <a:r>
              <a:rPr lang="en-US" sz="2000" dirty="0">
                <a:solidFill>
                  <a:schemeClr val="tx1"/>
                </a:solidFill>
              </a:rPr>
              <a:t>To provide </a:t>
            </a:r>
            <a:r>
              <a:rPr lang="en-US" sz="2000" b="1" dirty="0">
                <a:solidFill>
                  <a:schemeClr val="tx1"/>
                </a:solidFill>
              </a:rPr>
              <a:t>clarity on best markets</a:t>
            </a:r>
            <a:r>
              <a:rPr lang="en-US" sz="2000" dirty="0">
                <a:solidFill>
                  <a:schemeClr val="tx1"/>
                </a:solidFill>
              </a:rPr>
              <a:t> for farmers to sell their </a:t>
            </a:r>
            <a:r>
              <a:rPr lang="en-US" sz="2000" dirty="0" err="1">
                <a:solidFill>
                  <a:schemeClr val="tx1"/>
                </a:solidFill>
              </a:rPr>
              <a:t>vegitables</a:t>
            </a:r>
            <a:r>
              <a:rPr lang="en-US" sz="2000" dirty="0">
                <a:solidFill>
                  <a:schemeClr val="tx1"/>
                </a:solidFill>
              </a:rPr>
              <a:t>.</a:t>
            </a:r>
          </a:p>
          <a:p>
            <a:pPr marL="342900" lvl="1" indent="-342900">
              <a:lnSpc>
                <a:spcPct val="150000"/>
              </a:lnSpc>
              <a:buFont typeface="Wingdings"/>
              <a:buChar char="Ø"/>
            </a:pPr>
            <a:r>
              <a:rPr lang="en-US" sz="2000" dirty="0">
                <a:solidFill>
                  <a:schemeClr val="tx1"/>
                </a:solidFill>
              </a:rPr>
              <a:t>To track </a:t>
            </a:r>
            <a:r>
              <a:rPr lang="en-US" sz="2000" b="1" dirty="0">
                <a:solidFill>
                  <a:schemeClr val="tx1"/>
                </a:solidFill>
              </a:rPr>
              <a:t>highest and lowest arrivals &amp; prices</a:t>
            </a:r>
            <a:r>
              <a:rPr lang="en-US" sz="2000" dirty="0">
                <a:solidFill>
                  <a:schemeClr val="tx1"/>
                </a:solidFill>
              </a:rPr>
              <a:t> for better decision-making</a:t>
            </a:r>
          </a:p>
          <a:p>
            <a:pPr marL="342900" lvl="1" indent="-342900">
              <a:lnSpc>
                <a:spcPct val="150000"/>
              </a:lnSpc>
              <a:buFont typeface="Wingdings"/>
              <a:buChar char="Ø"/>
            </a:pPr>
            <a:r>
              <a:rPr lang="en-US" sz="2000" dirty="0">
                <a:solidFill>
                  <a:schemeClr val="tx1"/>
                </a:solidFill>
              </a:rPr>
              <a:t>To study the </a:t>
            </a:r>
            <a:r>
              <a:rPr lang="en-US" sz="2000" b="1" dirty="0">
                <a:solidFill>
                  <a:schemeClr val="tx1"/>
                </a:solidFill>
              </a:rPr>
              <a:t>relationship between supply and price</a:t>
            </a:r>
            <a:r>
              <a:rPr lang="en-US" sz="2000" dirty="0">
                <a:solidFill>
                  <a:schemeClr val="tx1"/>
                </a:solidFill>
              </a:rPr>
              <a:t> </a:t>
            </a:r>
          </a:p>
          <a:p>
            <a:pPr marL="342900" lvl="1" indent="-342900">
              <a:lnSpc>
                <a:spcPct val="150000"/>
              </a:lnSpc>
              <a:buFont typeface="Wingdings"/>
              <a:buChar char="Ø"/>
            </a:pPr>
            <a:r>
              <a:rPr lang="en-US" sz="2000" dirty="0">
                <a:solidFill>
                  <a:schemeClr val="tx1"/>
                </a:solidFill>
              </a:rPr>
              <a:t>To create </a:t>
            </a:r>
            <a:r>
              <a:rPr lang="en-US" sz="2000" b="1" dirty="0">
                <a:solidFill>
                  <a:schemeClr val="tx1"/>
                </a:solidFill>
              </a:rPr>
              <a:t>visual insights</a:t>
            </a:r>
            <a:r>
              <a:rPr lang="en-US" sz="2000" dirty="0">
                <a:solidFill>
                  <a:schemeClr val="tx1"/>
                </a:solidFill>
              </a:rPr>
              <a:t> that farmers, vendors, and businesses can easily understand</a:t>
            </a:r>
          </a:p>
          <a:p>
            <a:pPr marL="800100" lvl="1" indent="-342900">
              <a:lnSpc>
                <a:spcPct val="150000"/>
              </a:lnSpc>
              <a:buFont typeface="Wingdings"/>
              <a:buChar char="Ø"/>
            </a:pPr>
            <a:endParaRPr lang="en-US" sz="2400" dirty="0">
              <a:solidFill>
                <a:schemeClr val="tx1"/>
              </a:solidFill>
            </a:endParaRPr>
          </a:p>
        </p:txBody>
      </p:sp>
      <p:sp>
        <p:nvSpPr>
          <p:cNvPr id="8" name="Rectangle: Rounded Corners 7">
            <a:extLst>
              <a:ext uri="{FF2B5EF4-FFF2-40B4-BE49-F238E27FC236}">
                <a16:creationId xmlns:a16="http://schemas.microsoft.com/office/drawing/2014/main" id="{C887031F-E71D-35CC-8D8B-483058DC2F76}"/>
              </a:ext>
            </a:extLst>
          </p:cNvPr>
          <p:cNvSpPr/>
          <p:nvPr/>
        </p:nvSpPr>
        <p:spPr>
          <a:xfrm>
            <a:off x="403042" y="509939"/>
            <a:ext cx="4295957" cy="591767"/>
          </a:xfrm>
          <a:prstGeom prst="roundRect">
            <a:avLst/>
          </a:prstGeom>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sz="2800" b="1" dirty="0">
                <a:solidFill>
                  <a:schemeClr val="tx1"/>
                </a:solidFill>
                <a:latin typeface="Book Antiqua"/>
              </a:rPr>
              <a:t>BUSINESS PROBLEM</a:t>
            </a:r>
            <a:r>
              <a:rPr lang="en-US" sz="3200" b="1" dirty="0">
                <a:solidFill>
                  <a:schemeClr val="tx1"/>
                </a:solidFill>
                <a:latin typeface="Book Antiqua"/>
              </a:rPr>
              <a:t>:</a:t>
            </a:r>
            <a:r>
              <a:rPr lang="en-US" sz="1600" dirty="0">
                <a:solidFill>
                  <a:srgbClr val="000000"/>
                </a:solidFill>
                <a:latin typeface="Arial"/>
                <a:cs typeface="Arial"/>
              </a:rPr>
              <a:t>:</a:t>
            </a:r>
            <a:endParaRPr lang="en-US" sz="1600" dirty="0"/>
          </a:p>
        </p:txBody>
      </p:sp>
      <p:sp>
        <p:nvSpPr>
          <p:cNvPr id="9" name="Rectangle: Rounded Corners 8">
            <a:extLst>
              <a:ext uri="{FF2B5EF4-FFF2-40B4-BE49-F238E27FC236}">
                <a16:creationId xmlns:a16="http://schemas.microsoft.com/office/drawing/2014/main" id="{6A85992E-FECA-1B04-2973-EB2358C7F8E0}"/>
              </a:ext>
            </a:extLst>
          </p:cNvPr>
          <p:cNvSpPr/>
          <p:nvPr/>
        </p:nvSpPr>
        <p:spPr>
          <a:xfrm>
            <a:off x="403042" y="4397033"/>
            <a:ext cx="5692959" cy="591767"/>
          </a:xfrm>
          <a:prstGeom prst="roundRect">
            <a:avLst/>
          </a:prstGeom>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sz="2800" b="1" dirty="0">
                <a:solidFill>
                  <a:schemeClr val="tx1"/>
                </a:solidFill>
                <a:latin typeface="Book Antiqua"/>
              </a:rPr>
              <a:t>OBJECTIVE  OF THE PROJECT</a:t>
            </a:r>
            <a:r>
              <a:rPr lang="en-US" sz="3600" b="1" dirty="0">
                <a:solidFill>
                  <a:schemeClr val="tx1"/>
                </a:solidFill>
                <a:latin typeface="Book Antiqua"/>
              </a:rPr>
              <a:t>:</a:t>
            </a:r>
            <a:r>
              <a:rPr lang="en-US" sz="1400" dirty="0">
                <a:solidFill>
                  <a:srgbClr val="000000"/>
                </a:solidFill>
                <a:latin typeface="Arial"/>
                <a:cs typeface="Arial"/>
              </a:rPr>
              <a:t>:</a:t>
            </a:r>
            <a:endParaRPr lang="en-US" sz="1400" dirty="0">
              <a:ea typeface="Calibri"/>
              <a:cs typeface="Calibri"/>
            </a:endParaRPr>
          </a:p>
        </p:txBody>
      </p:sp>
      <p:pic>
        <p:nvPicPr>
          <p:cNvPr id="4098" name="Picture 2" descr="Case study on losses of Indian farmers ...">
            <a:extLst>
              <a:ext uri="{FF2B5EF4-FFF2-40B4-BE49-F238E27FC236}">
                <a16:creationId xmlns:a16="http://schemas.microsoft.com/office/drawing/2014/main" id="{A47A68AC-105E-DF02-EDB6-34D81FBBFF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6670" y="700245"/>
            <a:ext cx="3105925" cy="2572866"/>
          </a:xfrm>
          <a:prstGeom prst="rect">
            <a:avLst/>
          </a:prstGeom>
          <a:ln>
            <a:noFill/>
          </a:ln>
          <a:effectLst>
            <a:reflection blurRad="6350" stA="50000" endA="300" endPos="55000" dir="5400000" sy="-100000" algn="bl" rotWithShape="0"/>
            <a:softEdge rad="112500"/>
          </a:effectLst>
          <a:extLst>
            <a:ext uri="{909E8E84-426E-40DD-AFC4-6F175D3DCCD1}">
              <a14:hiddenFill xmlns:a14="http://schemas.microsoft.com/office/drawing/2010/main">
                <a:solidFill>
                  <a:srgbClr val="FFFFFF"/>
                </a:solidFill>
              </a14:hiddenFill>
            </a:ext>
          </a:extLst>
        </p:spPr>
      </p:pic>
      <p:pic>
        <p:nvPicPr>
          <p:cNvPr id="4100" name="Picture 4" descr="Happy Indian Farmer Images – Browse 32,652 Stock Photos, Vectors, and Video  | Adobe Stock">
            <a:extLst>
              <a:ext uri="{FF2B5EF4-FFF2-40B4-BE49-F238E27FC236}">
                <a16:creationId xmlns:a16="http://schemas.microsoft.com/office/drawing/2014/main" id="{860C8FB0-4CC7-7B3C-0338-CE468387E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0029" y="4692916"/>
            <a:ext cx="3801672" cy="2534448"/>
          </a:xfrm>
          <a:prstGeom prst="rect">
            <a:avLst/>
          </a:prstGeom>
          <a:ln>
            <a:noFill/>
          </a:ln>
          <a:effectLst>
            <a:reflection blurRad="6350" stA="52000" endA="300" endPos="35000" dir="5400000" sy="-100000" algn="bl" rotWithShape="0"/>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2425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500" fill="hold"/>
                                        <p:tgtEl>
                                          <p:spTgt spid="4098"/>
                                        </p:tgtEl>
                                        <p:attrNameLst>
                                          <p:attrName>ppt_w</p:attrName>
                                        </p:attrNameLst>
                                      </p:cBhvr>
                                      <p:tavLst>
                                        <p:tav tm="0">
                                          <p:val>
                                            <p:fltVal val="0"/>
                                          </p:val>
                                        </p:tav>
                                        <p:tav tm="100000">
                                          <p:val>
                                            <p:strVal val="#ppt_w"/>
                                          </p:val>
                                        </p:tav>
                                      </p:tavLst>
                                    </p:anim>
                                    <p:anim calcmode="lin" valueType="num">
                                      <p:cBhvr>
                                        <p:cTn id="8" dur="500" fill="hold"/>
                                        <p:tgtEl>
                                          <p:spTgt spid="4098"/>
                                        </p:tgtEl>
                                        <p:attrNameLst>
                                          <p:attrName>ppt_h</p:attrName>
                                        </p:attrNameLst>
                                      </p:cBhvr>
                                      <p:tavLst>
                                        <p:tav tm="0">
                                          <p:val>
                                            <p:fltVal val="0"/>
                                          </p:val>
                                        </p:tav>
                                        <p:tav tm="100000">
                                          <p:val>
                                            <p:strVal val="#ppt_h"/>
                                          </p:val>
                                        </p:tav>
                                      </p:tavLst>
                                    </p:anim>
                                    <p:animEffect transition="in" filter="fade">
                                      <p:cBhvr>
                                        <p:cTn id="9" dur="500"/>
                                        <p:tgtEl>
                                          <p:spTgt spid="4098"/>
                                        </p:tgtEl>
                                      </p:cBhvr>
                                    </p:animEffect>
                                  </p:childTnLst>
                                </p:cTn>
                              </p:par>
                              <p:par>
                                <p:cTn id="10" presetID="53" presetClass="entr" presetSubtype="16" fill="hold" nodeType="withEffect">
                                  <p:stCondLst>
                                    <p:cond delay="0"/>
                                  </p:stCondLst>
                                  <p:childTnLst>
                                    <p:set>
                                      <p:cBhvr>
                                        <p:cTn id="11" dur="1" fill="hold">
                                          <p:stCondLst>
                                            <p:cond delay="0"/>
                                          </p:stCondLst>
                                        </p:cTn>
                                        <p:tgtEl>
                                          <p:spTgt spid="4100"/>
                                        </p:tgtEl>
                                        <p:attrNameLst>
                                          <p:attrName>style.visibility</p:attrName>
                                        </p:attrNameLst>
                                      </p:cBhvr>
                                      <p:to>
                                        <p:strVal val="visible"/>
                                      </p:to>
                                    </p:set>
                                    <p:anim calcmode="lin" valueType="num">
                                      <p:cBhvr>
                                        <p:cTn id="12" dur="500" fill="hold"/>
                                        <p:tgtEl>
                                          <p:spTgt spid="4100"/>
                                        </p:tgtEl>
                                        <p:attrNameLst>
                                          <p:attrName>ppt_w</p:attrName>
                                        </p:attrNameLst>
                                      </p:cBhvr>
                                      <p:tavLst>
                                        <p:tav tm="0">
                                          <p:val>
                                            <p:fltVal val="0"/>
                                          </p:val>
                                        </p:tav>
                                        <p:tav tm="100000">
                                          <p:val>
                                            <p:strVal val="#ppt_w"/>
                                          </p:val>
                                        </p:tav>
                                      </p:tavLst>
                                    </p:anim>
                                    <p:anim calcmode="lin" valueType="num">
                                      <p:cBhvr>
                                        <p:cTn id="13" dur="500" fill="hold"/>
                                        <p:tgtEl>
                                          <p:spTgt spid="4100"/>
                                        </p:tgtEl>
                                        <p:attrNameLst>
                                          <p:attrName>ppt_h</p:attrName>
                                        </p:attrNameLst>
                                      </p:cBhvr>
                                      <p:tavLst>
                                        <p:tav tm="0">
                                          <p:val>
                                            <p:fltVal val="0"/>
                                          </p:val>
                                        </p:tav>
                                        <p:tav tm="100000">
                                          <p:val>
                                            <p:strVal val="#ppt_h"/>
                                          </p:val>
                                        </p:tav>
                                      </p:tavLst>
                                    </p:anim>
                                    <p:animEffect transition="in" filter="fade">
                                      <p:cBhvr>
                                        <p:cTn id="14"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DEC3048-A545-E6E0-C8C5-81B9AF8CCFA0}"/>
              </a:ext>
            </a:extLst>
          </p:cNvPr>
          <p:cNvSpPr/>
          <p:nvPr/>
        </p:nvSpPr>
        <p:spPr>
          <a:xfrm>
            <a:off x="406400" y="511512"/>
            <a:ext cx="3035300" cy="546100"/>
          </a:xfrm>
          <a:prstGeom prst="round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t>Web Scraping</a:t>
            </a:r>
          </a:p>
        </p:txBody>
      </p:sp>
      <p:pic>
        <p:nvPicPr>
          <p:cNvPr id="1028" name="Picture 4" descr="Web Scraping | Machine Learning ...">
            <a:extLst>
              <a:ext uri="{FF2B5EF4-FFF2-40B4-BE49-F238E27FC236}">
                <a16:creationId xmlns:a16="http://schemas.microsoft.com/office/drawing/2014/main" id="{EDD4ABEF-2891-B5D1-6055-8293A17C9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0405" y="2563779"/>
            <a:ext cx="4557995" cy="2552477"/>
          </a:xfrm>
          <a:prstGeom prst="rect">
            <a:avLst/>
          </a:prstGeom>
          <a:noFill/>
          <a:effectLst>
            <a:reflection blurRad="6350" stA="50000" endA="300" endPos="38500" dist="50800" dir="5400000" sy="-100000" algn="bl" rotWithShape="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7AFCC7B-679F-D3C1-4C01-3D4A9DD291DD}"/>
              </a:ext>
            </a:extLst>
          </p:cNvPr>
          <p:cNvSpPr txBox="1"/>
          <p:nvPr/>
        </p:nvSpPr>
        <p:spPr>
          <a:xfrm>
            <a:off x="406400" y="1231900"/>
            <a:ext cx="10404114" cy="6063198"/>
          </a:xfrm>
          <a:prstGeom prst="rect">
            <a:avLst/>
          </a:prstGeom>
          <a:noFill/>
        </p:spPr>
        <p:txBody>
          <a:bodyPr wrap="square" rtlCol="0">
            <a:spAutoFit/>
          </a:bodyPr>
          <a:lstStyle/>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Web scraping is the process of automatically extracting data from websites. It helps collect large amounts of real-time information for analysis.</a:t>
            </a:r>
          </a:p>
          <a:p>
            <a:pPr marL="342900" indent="-342900">
              <a:buFont typeface="Wingdings" panose="05000000000000000000" pitchFamily="2" charset="2"/>
              <a:buChar char="v"/>
            </a:pPr>
            <a:endParaRPr lang="en-US" sz="2400" dirty="0"/>
          </a:p>
          <a:p>
            <a:pPr marL="342900" indent="-342900">
              <a:buFont typeface="Wingdings" panose="05000000000000000000" pitchFamily="2" charset="2"/>
              <a:buChar char="v"/>
            </a:pPr>
            <a:r>
              <a:rPr lang="en-IN" sz="2400" b="1" dirty="0"/>
              <a:t>How Web Scraping Works:</a:t>
            </a:r>
          </a:p>
          <a:p>
            <a:pPr marL="285750" indent="-285750">
              <a:buFont typeface="Wingdings" panose="05000000000000000000" pitchFamily="2" charset="2"/>
              <a:buChar char="Ø"/>
            </a:pPr>
            <a:endParaRPr lang="en-US" sz="2000" dirty="0"/>
          </a:p>
          <a:p>
            <a:pPr marL="285750" indent="-285750">
              <a:lnSpc>
                <a:spcPct val="150000"/>
              </a:lnSpc>
              <a:buFont typeface="Wingdings" panose="05000000000000000000" pitchFamily="2" charset="2"/>
              <a:buChar char="Ø"/>
            </a:pPr>
            <a:r>
              <a:rPr lang="en-IN" sz="2000" b="1" dirty="0"/>
              <a:t>Send Request:</a:t>
            </a:r>
            <a:r>
              <a:rPr lang="en-IN" sz="2000" dirty="0"/>
              <a:t> </a:t>
            </a:r>
            <a:r>
              <a:rPr lang="en-US" sz="2000" dirty="0"/>
              <a:t>A request is sent to the website to access its data.</a:t>
            </a:r>
          </a:p>
          <a:p>
            <a:pPr marL="285750" indent="-285750">
              <a:lnSpc>
                <a:spcPct val="150000"/>
              </a:lnSpc>
              <a:buFont typeface="Wingdings" panose="05000000000000000000" pitchFamily="2" charset="2"/>
              <a:buChar char="Ø"/>
            </a:pPr>
            <a:r>
              <a:rPr lang="en-IN" sz="2000" b="1" dirty="0"/>
              <a:t>Fetch Web Page:</a:t>
            </a:r>
            <a:r>
              <a:rPr lang="en-IN" sz="2000" dirty="0"/>
              <a:t> </a:t>
            </a:r>
            <a:r>
              <a:rPr lang="en-US" sz="2000" dirty="0"/>
              <a:t>The website responds with an HTML page containing the required data.</a:t>
            </a:r>
          </a:p>
          <a:p>
            <a:pPr marL="285750" indent="-285750">
              <a:lnSpc>
                <a:spcPct val="150000"/>
              </a:lnSpc>
              <a:buFont typeface="Wingdings" panose="05000000000000000000" pitchFamily="2" charset="2"/>
              <a:buChar char="Ø"/>
            </a:pPr>
            <a:r>
              <a:rPr lang="en-IN" sz="2000" b="1" dirty="0"/>
              <a:t>Extracting Data:</a:t>
            </a:r>
            <a:r>
              <a:rPr lang="en-IN" sz="2000" dirty="0"/>
              <a:t> </a:t>
            </a:r>
            <a:r>
              <a:rPr lang="en-US" sz="2000" dirty="0"/>
              <a:t>Using tools like </a:t>
            </a:r>
            <a:r>
              <a:rPr lang="en-US" sz="2000" b="1" dirty="0" err="1"/>
              <a:t>BeautifulSoup</a:t>
            </a:r>
            <a:r>
              <a:rPr lang="en-US" sz="2000" b="1" dirty="0"/>
              <a:t> </a:t>
            </a:r>
            <a:r>
              <a:rPr lang="en-US" sz="2000" dirty="0" err="1"/>
              <a:t>pecific</a:t>
            </a:r>
            <a:r>
              <a:rPr lang="en-US" sz="2000" dirty="0"/>
              <a:t> information is extracted.</a:t>
            </a:r>
          </a:p>
          <a:p>
            <a:pPr marL="285750" indent="-285750">
              <a:lnSpc>
                <a:spcPct val="150000"/>
              </a:lnSpc>
              <a:buFont typeface="Wingdings" panose="05000000000000000000" pitchFamily="2" charset="2"/>
              <a:buChar char="Ø"/>
            </a:pPr>
            <a:r>
              <a:rPr lang="en-IN" sz="2000" b="1" dirty="0"/>
              <a:t>Clean &amp; Organize Data: </a:t>
            </a:r>
            <a:r>
              <a:rPr lang="en-US" sz="2000" dirty="0"/>
              <a:t>Raw data is processed, structured, and converted into tables or datasets.</a:t>
            </a:r>
          </a:p>
          <a:p>
            <a:pPr marL="285750" indent="-285750">
              <a:lnSpc>
                <a:spcPct val="150000"/>
              </a:lnSpc>
              <a:buFont typeface="Wingdings" panose="05000000000000000000" pitchFamily="2" charset="2"/>
              <a:buChar char="Ø"/>
            </a:pPr>
            <a:r>
              <a:rPr lang="en-IN" sz="2000" b="1" dirty="0"/>
              <a:t>Store Data: </a:t>
            </a:r>
            <a:r>
              <a:rPr lang="en-US" sz="2000" dirty="0"/>
              <a:t>The cleaned data is stored in formats like </a:t>
            </a:r>
            <a:r>
              <a:rPr lang="en-US" sz="2000" b="1" dirty="0"/>
              <a:t>CSV, Excel, or Database</a:t>
            </a:r>
            <a:r>
              <a:rPr lang="en-US" sz="2000" dirty="0"/>
              <a:t> for future use.</a:t>
            </a:r>
          </a:p>
          <a:p>
            <a:pPr marL="285750" indent="-285750">
              <a:lnSpc>
                <a:spcPct val="150000"/>
              </a:lnSpc>
              <a:buFont typeface="Wingdings" panose="05000000000000000000" pitchFamily="2" charset="2"/>
              <a:buChar char="Ø"/>
            </a:pPr>
            <a:r>
              <a:rPr lang="en-IN" sz="2000" b="1" dirty="0" err="1"/>
              <a:t>Analyze</a:t>
            </a:r>
            <a:r>
              <a:rPr lang="en-IN" sz="2000" b="1" dirty="0"/>
              <a:t> &amp; Visualize:</a:t>
            </a:r>
            <a:r>
              <a:rPr lang="en-US" sz="2000" dirty="0"/>
              <a:t>Finally, the data is analyzed with tools like </a:t>
            </a:r>
            <a:r>
              <a:rPr lang="en-US" sz="2000" b="1" dirty="0"/>
              <a:t>Pandas, Matplotlib, or Power BI</a:t>
            </a:r>
            <a:r>
              <a:rPr lang="en-US" sz="2000" dirty="0"/>
              <a:t>, helping farmers, vendors, and businesses gain real insights.</a:t>
            </a:r>
          </a:p>
          <a:p>
            <a:endParaRPr lang="en-IN" sz="2000" dirty="0"/>
          </a:p>
        </p:txBody>
      </p:sp>
    </p:spTree>
    <p:extLst>
      <p:ext uri="{BB962C8B-B14F-4D97-AF65-F5344CB8AC3E}">
        <p14:creationId xmlns:p14="http://schemas.microsoft.com/office/powerpoint/2010/main" val="7936790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p:cTn id="7" dur="500" fill="hold"/>
                                        <p:tgtEl>
                                          <p:spTgt spid="1028"/>
                                        </p:tgtEl>
                                        <p:attrNameLst>
                                          <p:attrName>ppt_w</p:attrName>
                                        </p:attrNameLst>
                                      </p:cBhvr>
                                      <p:tavLst>
                                        <p:tav tm="0">
                                          <p:val>
                                            <p:fltVal val="0"/>
                                          </p:val>
                                        </p:tav>
                                        <p:tav tm="100000">
                                          <p:val>
                                            <p:strVal val="#ppt_w"/>
                                          </p:val>
                                        </p:tav>
                                      </p:tavLst>
                                    </p:anim>
                                    <p:anim calcmode="lin" valueType="num">
                                      <p:cBhvr>
                                        <p:cTn id="8" dur="500" fill="hold"/>
                                        <p:tgtEl>
                                          <p:spTgt spid="1028"/>
                                        </p:tgtEl>
                                        <p:attrNameLst>
                                          <p:attrName>ppt_h</p:attrName>
                                        </p:attrNameLst>
                                      </p:cBhvr>
                                      <p:tavLst>
                                        <p:tav tm="0">
                                          <p:val>
                                            <p:fltVal val="0"/>
                                          </p:val>
                                        </p:tav>
                                        <p:tav tm="100000">
                                          <p:val>
                                            <p:strVal val="#ppt_h"/>
                                          </p:val>
                                        </p:tav>
                                      </p:tavLst>
                                    </p:anim>
                                    <p:animEffect transition="in" filter="fade">
                                      <p:cBhvr>
                                        <p:cTn id="9"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website&#10;&#10;AI-generated content may be incorrect.">
            <a:extLst>
              <a:ext uri="{FF2B5EF4-FFF2-40B4-BE49-F238E27FC236}">
                <a16:creationId xmlns:a16="http://schemas.microsoft.com/office/drawing/2014/main" id="{A8A7CFE3-F739-1FEB-F2D2-F06F2454A8EA}"/>
              </a:ext>
            </a:extLst>
          </p:cNvPr>
          <p:cNvPicPr>
            <a:picLocks noChangeAspect="1"/>
          </p:cNvPicPr>
          <p:nvPr/>
        </p:nvPicPr>
        <p:blipFill>
          <a:blip r:embed="rId2"/>
          <a:stretch>
            <a:fillRect/>
          </a:stretch>
        </p:blipFill>
        <p:spPr>
          <a:xfrm>
            <a:off x="1977202" y="1679086"/>
            <a:ext cx="11590395" cy="5612416"/>
          </a:xfrm>
          <a:prstGeom prst="rect">
            <a:avLst/>
          </a:prstGeom>
        </p:spPr>
      </p:pic>
      <p:sp>
        <p:nvSpPr>
          <p:cNvPr id="3" name="Rectangle 2">
            <a:extLst>
              <a:ext uri="{FF2B5EF4-FFF2-40B4-BE49-F238E27FC236}">
                <a16:creationId xmlns:a16="http://schemas.microsoft.com/office/drawing/2014/main" id="{7C270F8D-CC73-1FBB-93D3-3FA10AE479B0}"/>
              </a:ext>
            </a:extLst>
          </p:cNvPr>
          <p:cNvSpPr/>
          <p:nvPr/>
        </p:nvSpPr>
        <p:spPr>
          <a:xfrm>
            <a:off x="2832100" y="4978400"/>
            <a:ext cx="1333500" cy="482600"/>
          </a:xfrm>
          <a:prstGeom prst="rect">
            <a:avLst/>
          </a:prstGeom>
          <a:noFill/>
          <a:ln>
            <a:solidFill>
              <a:srgbClr val="FF0000"/>
            </a:solidFill>
            <a:extLst>
              <a:ext uri="{C807C97D-BFC1-408E-A445-0C87EB9F89A2}">
                <ask:lineSketchStyleProps xmlns:ask="http://schemas.microsoft.com/office/drawing/2018/sketchyshapes" sd="2650216993">
                  <a:custGeom>
                    <a:avLst/>
                    <a:gdLst>
                      <a:gd name="connsiteX0" fmla="*/ 0 w 1333500"/>
                      <a:gd name="connsiteY0" fmla="*/ 0 h 482600"/>
                      <a:gd name="connsiteX1" fmla="*/ 1333500 w 1333500"/>
                      <a:gd name="connsiteY1" fmla="*/ 0 h 482600"/>
                      <a:gd name="connsiteX2" fmla="*/ 1333500 w 1333500"/>
                      <a:gd name="connsiteY2" fmla="*/ 482600 h 482600"/>
                      <a:gd name="connsiteX3" fmla="*/ 0 w 1333500"/>
                      <a:gd name="connsiteY3" fmla="*/ 482600 h 482600"/>
                      <a:gd name="connsiteX4" fmla="*/ 0 w 1333500"/>
                      <a:gd name="connsiteY4" fmla="*/ 0 h 48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482600" extrusionOk="0">
                        <a:moveTo>
                          <a:pt x="0" y="0"/>
                        </a:moveTo>
                        <a:cubicBezTo>
                          <a:pt x="514646" y="-56229"/>
                          <a:pt x="952987" y="-98838"/>
                          <a:pt x="1333500" y="0"/>
                        </a:cubicBezTo>
                        <a:cubicBezTo>
                          <a:pt x="1330361" y="74592"/>
                          <a:pt x="1295752" y="367483"/>
                          <a:pt x="1333500" y="482600"/>
                        </a:cubicBezTo>
                        <a:cubicBezTo>
                          <a:pt x="993233" y="425285"/>
                          <a:pt x="206914" y="539786"/>
                          <a:pt x="0" y="482600"/>
                        </a:cubicBezTo>
                        <a:cubicBezTo>
                          <a:pt x="25070" y="350559"/>
                          <a:pt x="40875" y="24012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39BA4AC0-21DD-B0ED-963D-FEFEA0FD84CD}"/>
              </a:ext>
            </a:extLst>
          </p:cNvPr>
          <p:cNvSpPr/>
          <p:nvPr/>
        </p:nvSpPr>
        <p:spPr>
          <a:xfrm>
            <a:off x="4252148" y="4978400"/>
            <a:ext cx="1333500" cy="482600"/>
          </a:xfrm>
          <a:prstGeom prst="rect">
            <a:avLst/>
          </a:prstGeom>
          <a:noFill/>
          <a:ln>
            <a:solidFill>
              <a:srgbClr val="FF0000"/>
            </a:solidFill>
            <a:extLst>
              <a:ext uri="{C807C97D-BFC1-408E-A445-0C87EB9F89A2}">
                <ask:lineSketchStyleProps xmlns:ask="http://schemas.microsoft.com/office/drawing/2018/sketchyshapes" sd="2650216993">
                  <a:custGeom>
                    <a:avLst/>
                    <a:gdLst>
                      <a:gd name="connsiteX0" fmla="*/ 0 w 1333500"/>
                      <a:gd name="connsiteY0" fmla="*/ 0 h 482600"/>
                      <a:gd name="connsiteX1" fmla="*/ 1333500 w 1333500"/>
                      <a:gd name="connsiteY1" fmla="*/ 0 h 482600"/>
                      <a:gd name="connsiteX2" fmla="*/ 1333500 w 1333500"/>
                      <a:gd name="connsiteY2" fmla="*/ 482600 h 482600"/>
                      <a:gd name="connsiteX3" fmla="*/ 0 w 1333500"/>
                      <a:gd name="connsiteY3" fmla="*/ 482600 h 482600"/>
                      <a:gd name="connsiteX4" fmla="*/ 0 w 1333500"/>
                      <a:gd name="connsiteY4" fmla="*/ 0 h 48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482600" extrusionOk="0">
                        <a:moveTo>
                          <a:pt x="0" y="0"/>
                        </a:moveTo>
                        <a:cubicBezTo>
                          <a:pt x="514646" y="-56229"/>
                          <a:pt x="952987" y="-98838"/>
                          <a:pt x="1333500" y="0"/>
                        </a:cubicBezTo>
                        <a:cubicBezTo>
                          <a:pt x="1330361" y="74592"/>
                          <a:pt x="1295752" y="367483"/>
                          <a:pt x="1333500" y="482600"/>
                        </a:cubicBezTo>
                        <a:cubicBezTo>
                          <a:pt x="993233" y="425285"/>
                          <a:pt x="206914" y="539786"/>
                          <a:pt x="0" y="482600"/>
                        </a:cubicBezTo>
                        <a:cubicBezTo>
                          <a:pt x="25070" y="350559"/>
                          <a:pt x="40875" y="24012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lumMod val="95000"/>
                  <a:lumOff val="5000"/>
                </a:schemeClr>
              </a:solidFill>
            </a:endParaRPr>
          </a:p>
        </p:txBody>
      </p:sp>
      <p:sp>
        <p:nvSpPr>
          <p:cNvPr id="8" name="Rectangle 7">
            <a:extLst>
              <a:ext uri="{FF2B5EF4-FFF2-40B4-BE49-F238E27FC236}">
                <a16:creationId xmlns:a16="http://schemas.microsoft.com/office/drawing/2014/main" id="{E3E79638-3B3A-BA27-722E-5AE4A98DDF60}"/>
              </a:ext>
            </a:extLst>
          </p:cNvPr>
          <p:cNvSpPr/>
          <p:nvPr/>
        </p:nvSpPr>
        <p:spPr>
          <a:xfrm>
            <a:off x="10922000" y="4991100"/>
            <a:ext cx="1333500" cy="482600"/>
          </a:xfrm>
          <a:prstGeom prst="rect">
            <a:avLst/>
          </a:prstGeom>
          <a:noFill/>
          <a:ln>
            <a:solidFill>
              <a:srgbClr val="FF0000"/>
            </a:solidFill>
            <a:extLst>
              <a:ext uri="{C807C97D-BFC1-408E-A445-0C87EB9F89A2}">
                <ask:lineSketchStyleProps xmlns:ask="http://schemas.microsoft.com/office/drawing/2018/sketchyshapes" sd="2650216993">
                  <a:custGeom>
                    <a:avLst/>
                    <a:gdLst>
                      <a:gd name="connsiteX0" fmla="*/ 0 w 1333500"/>
                      <a:gd name="connsiteY0" fmla="*/ 0 h 482600"/>
                      <a:gd name="connsiteX1" fmla="*/ 1333500 w 1333500"/>
                      <a:gd name="connsiteY1" fmla="*/ 0 h 482600"/>
                      <a:gd name="connsiteX2" fmla="*/ 1333500 w 1333500"/>
                      <a:gd name="connsiteY2" fmla="*/ 482600 h 482600"/>
                      <a:gd name="connsiteX3" fmla="*/ 0 w 1333500"/>
                      <a:gd name="connsiteY3" fmla="*/ 482600 h 482600"/>
                      <a:gd name="connsiteX4" fmla="*/ 0 w 1333500"/>
                      <a:gd name="connsiteY4" fmla="*/ 0 h 48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482600" extrusionOk="0">
                        <a:moveTo>
                          <a:pt x="0" y="0"/>
                        </a:moveTo>
                        <a:cubicBezTo>
                          <a:pt x="514646" y="-56229"/>
                          <a:pt x="952987" y="-98838"/>
                          <a:pt x="1333500" y="0"/>
                        </a:cubicBezTo>
                        <a:cubicBezTo>
                          <a:pt x="1330361" y="74592"/>
                          <a:pt x="1295752" y="367483"/>
                          <a:pt x="1333500" y="482600"/>
                        </a:cubicBezTo>
                        <a:cubicBezTo>
                          <a:pt x="993233" y="425285"/>
                          <a:pt x="206914" y="539786"/>
                          <a:pt x="0" y="482600"/>
                        </a:cubicBezTo>
                        <a:cubicBezTo>
                          <a:pt x="25070" y="350559"/>
                          <a:pt x="40875" y="24012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68860075-8069-13AD-49D0-262E6393A111}"/>
              </a:ext>
            </a:extLst>
          </p:cNvPr>
          <p:cNvSpPr/>
          <p:nvPr/>
        </p:nvSpPr>
        <p:spPr>
          <a:xfrm>
            <a:off x="9609903" y="4991100"/>
            <a:ext cx="1242248" cy="482600"/>
          </a:xfrm>
          <a:prstGeom prst="rect">
            <a:avLst/>
          </a:prstGeom>
          <a:noFill/>
          <a:ln>
            <a:solidFill>
              <a:srgbClr val="FF0000"/>
            </a:solidFill>
            <a:extLst>
              <a:ext uri="{C807C97D-BFC1-408E-A445-0C87EB9F89A2}">
                <ask:lineSketchStyleProps xmlns:ask="http://schemas.microsoft.com/office/drawing/2018/sketchyshapes" sd="2650216993">
                  <a:custGeom>
                    <a:avLst/>
                    <a:gdLst>
                      <a:gd name="connsiteX0" fmla="*/ 0 w 1333500"/>
                      <a:gd name="connsiteY0" fmla="*/ 0 h 482600"/>
                      <a:gd name="connsiteX1" fmla="*/ 1333500 w 1333500"/>
                      <a:gd name="connsiteY1" fmla="*/ 0 h 482600"/>
                      <a:gd name="connsiteX2" fmla="*/ 1333500 w 1333500"/>
                      <a:gd name="connsiteY2" fmla="*/ 482600 h 482600"/>
                      <a:gd name="connsiteX3" fmla="*/ 0 w 1333500"/>
                      <a:gd name="connsiteY3" fmla="*/ 482600 h 482600"/>
                      <a:gd name="connsiteX4" fmla="*/ 0 w 1333500"/>
                      <a:gd name="connsiteY4" fmla="*/ 0 h 48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482600" extrusionOk="0">
                        <a:moveTo>
                          <a:pt x="0" y="0"/>
                        </a:moveTo>
                        <a:cubicBezTo>
                          <a:pt x="514646" y="-56229"/>
                          <a:pt x="952987" y="-98838"/>
                          <a:pt x="1333500" y="0"/>
                        </a:cubicBezTo>
                        <a:cubicBezTo>
                          <a:pt x="1330361" y="74592"/>
                          <a:pt x="1295752" y="367483"/>
                          <a:pt x="1333500" y="482600"/>
                        </a:cubicBezTo>
                        <a:cubicBezTo>
                          <a:pt x="993233" y="425285"/>
                          <a:pt x="206914" y="539786"/>
                          <a:pt x="0" y="482600"/>
                        </a:cubicBezTo>
                        <a:cubicBezTo>
                          <a:pt x="25070" y="350559"/>
                          <a:pt x="40875" y="24012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648EA7D5-3B53-5E9D-D4A6-BA483A5D3E42}"/>
              </a:ext>
            </a:extLst>
          </p:cNvPr>
          <p:cNvSpPr/>
          <p:nvPr/>
        </p:nvSpPr>
        <p:spPr>
          <a:xfrm>
            <a:off x="8301803" y="4991100"/>
            <a:ext cx="1242248" cy="482600"/>
          </a:xfrm>
          <a:prstGeom prst="rect">
            <a:avLst/>
          </a:prstGeom>
          <a:noFill/>
          <a:ln>
            <a:solidFill>
              <a:srgbClr val="FF0000"/>
            </a:solidFill>
            <a:extLst>
              <a:ext uri="{C807C97D-BFC1-408E-A445-0C87EB9F89A2}">
                <ask:lineSketchStyleProps xmlns:ask="http://schemas.microsoft.com/office/drawing/2018/sketchyshapes" sd="2650216993">
                  <a:custGeom>
                    <a:avLst/>
                    <a:gdLst>
                      <a:gd name="connsiteX0" fmla="*/ 0 w 1333500"/>
                      <a:gd name="connsiteY0" fmla="*/ 0 h 482600"/>
                      <a:gd name="connsiteX1" fmla="*/ 1333500 w 1333500"/>
                      <a:gd name="connsiteY1" fmla="*/ 0 h 482600"/>
                      <a:gd name="connsiteX2" fmla="*/ 1333500 w 1333500"/>
                      <a:gd name="connsiteY2" fmla="*/ 482600 h 482600"/>
                      <a:gd name="connsiteX3" fmla="*/ 0 w 1333500"/>
                      <a:gd name="connsiteY3" fmla="*/ 482600 h 482600"/>
                      <a:gd name="connsiteX4" fmla="*/ 0 w 1333500"/>
                      <a:gd name="connsiteY4" fmla="*/ 0 h 48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482600" extrusionOk="0">
                        <a:moveTo>
                          <a:pt x="0" y="0"/>
                        </a:moveTo>
                        <a:cubicBezTo>
                          <a:pt x="514646" y="-56229"/>
                          <a:pt x="952987" y="-98838"/>
                          <a:pt x="1333500" y="0"/>
                        </a:cubicBezTo>
                        <a:cubicBezTo>
                          <a:pt x="1330361" y="74592"/>
                          <a:pt x="1295752" y="367483"/>
                          <a:pt x="1333500" y="482600"/>
                        </a:cubicBezTo>
                        <a:cubicBezTo>
                          <a:pt x="993233" y="425285"/>
                          <a:pt x="206914" y="539786"/>
                          <a:pt x="0" y="482600"/>
                        </a:cubicBezTo>
                        <a:cubicBezTo>
                          <a:pt x="25070" y="350559"/>
                          <a:pt x="40875" y="24012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50E2D84-43F1-5A1C-BE50-7CFD2F79129B}"/>
              </a:ext>
            </a:extLst>
          </p:cNvPr>
          <p:cNvSpPr/>
          <p:nvPr/>
        </p:nvSpPr>
        <p:spPr>
          <a:xfrm>
            <a:off x="6989706" y="4991100"/>
            <a:ext cx="1242248" cy="482600"/>
          </a:xfrm>
          <a:prstGeom prst="rect">
            <a:avLst/>
          </a:prstGeom>
          <a:noFill/>
          <a:ln>
            <a:solidFill>
              <a:srgbClr val="FF0000"/>
            </a:solidFill>
            <a:extLst>
              <a:ext uri="{C807C97D-BFC1-408E-A445-0C87EB9F89A2}">
                <ask:lineSketchStyleProps xmlns:ask="http://schemas.microsoft.com/office/drawing/2018/sketchyshapes" sd="2650216993">
                  <a:custGeom>
                    <a:avLst/>
                    <a:gdLst>
                      <a:gd name="connsiteX0" fmla="*/ 0 w 1333500"/>
                      <a:gd name="connsiteY0" fmla="*/ 0 h 482600"/>
                      <a:gd name="connsiteX1" fmla="*/ 1333500 w 1333500"/>
                      <a:gd name="connsiteY1" fmla="*/ 0 h 482600"/>
                      <a:gd name="connsiteX2" fmla="*/ 1333500 w 1333500"/>
                      <a:gd name="connsiteY2" fmla="*/ 482600 h 482600"/>
                      <a:gd name="connsiteX3" fmla="*/ 0 w 1333500"/>
                      <a:gd name="connsiteY3" fmla="*/ 482600 h 482600"/>
                      <a:gd name="connsiteX4" fmla="*/ 0 w 1333500"/>
                      <a:gd name="connsiteY4" fmla="*/ 0 h 48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482600" extrusionOk="0">
                        <a:moveTo>
                          <a:pt x="0" y="0"/>
                        </a:moveTo>
                        <a:cubicBezTo>
                          <a:pt x="514646" y="-56229"/>
                          <a:pt x="952987" y="-98838"/>
                          <a:pt x="1333500" y="0"/>
                        </a:cubicBezTo>
                        <a:cubicBezTo>
                          <a:pt x="1330361" y="74592"/>
                          <a:pt x="1295752" y="367483"/>
                          <a:pt x="1333500" y="482600"/>
                        </a:cubicBezTo>
                        <a:cubicBezTo>
                          <a:pt x="993233" y="425285"/>
                          <a:pt x="206914" y="539786"/>
                          <a:pt x="0" y="482600"/>
                        </a:cubicBezTo>
                        <a:cubicBezTo>
                          <a:pt x="25070" y="350559"/>
                          <a:pt x="40875" y="24012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B53CBCEE-7D20-1A58-6627-84B3413443D7}"/>
              </a:ext>
            </a:extLst>
          </p:cNvPr>
          <p:cNvSpPr/>
          <p:nvPr/>
        </p:nvSpPr>
        <p:spPr>
          <a:xfrm>
            <a:off x="5611047" y="4991100"/>
            <a:ext cx="1308809" cy="482600"/>
          </a:xfrm>
          <a:prstGeom prst="rect">
            <a:avLst/>
          </a:prstGeom>
          <a:noFill/>
          <a:ln>
            <a:solidFill>
              <a:srgbClr val="FF0000"/>
            </a:solidFill>
            <a:extLst>
              <a:ext uri="{C807C97D-BFC1-408E-A445-0C87EB9F89A2}">
                <ask:lineSketchStyleProps xmlns:ask="http://schemas.microsoft.com/office/drawing/2018/sketchyshapes" sd="2650216993">
                  <a:custGeom>
                    <a:avLst/>
                    <a:gdLst>
                      <a:gd name="connsiteX0" fmla="*/ 0 w 1333500"/>
                      <a:gd name="connsiteY0" fmla="*/ 0 h 482600"/>
                      <a:gd name="connsiteX1" fmla="*/ 1333500 w 1333500"/>
                      <a:gd name="connsiteY1" fmla="*/ 0 h 482600"/>
                      <a:gd name="connsiteX2" fmla="*/ 1333500 w 1333500"/>
                      <a:gd name="connsiteY2" fmla="*/ 482600 h 482600"/>
                      <a:gd name="connsiteX3" fmla="*/ 0 w 1333500"/>
                      <a:gd name="connsiteY3" fmla="*/ 482600 h 482600"/>
                      <a:gd name="connsiteX4" fmla="*/ 0 w 1333500"/>
                      <a:gd name="connsiteY4" fmla="*/ 0 h 48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482600" extrusionOk="0">
                        <a:moveTo>
                          <a:pt x="0" y="0"/>
                        </a:moveTo>
                        <a:cubicBezTo>
                          <a:pt x="514646" y="-56229"/>
                          <a:pt x="952987" y="-98838"/>
                          <a:pt x="1333500" y="0"/>
                        </a:cubicBezTo>
                        <a:cubicBezTo>
                          <a:pt x="1330361" y="74592"/>
                          <a:pt x="1295752" y="367483"/>
                          <a:pt x="1333500" y="482600"/>
                        </a:cubicBezTo>
                        <a:cubicBezTo>
                          <a:pt x="993233" y="425285"/>
                          <a:pt x="206914" y="539786"/>
                          <a:pt x="0" y="482600"/>
                        </a:cubicBezTo>
                        <a:cubicBezTo>
                          <a:pt x="25070" y="350559"/>
                          <a:pt x="40875" y="24012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6AD0230C-D2FD-C8A4-879B-61AD1F567857}"/>
              </a:ext>
            </a:extLst>
          </p:cNvPr>
          <p:cNvSpPr txBox="1"/>
          <p:nvPr/>
        </p:nvSpPr>
        <p:spPr>
          <a:xfrm>
            <a:off x="1977202" y="633010"/>
            <a:ext cx="3822700" cy="584775"/>
          </a:xfrm>
          <a:prstGeom prst="rect">
            <a:avLst/>
          </a:prstGeom>
          <a:noFill/>
          <a:ln>
            <a:solidFill>
              <a:schemeClr val="tx1"/>
            </a:solidFill>
          </a:ln>
        </p:spPr>
        <p:txBody>
          <a:bodyPr wrap="square" rtlCol="0">
            <a:spAutoFit/>
          </a:bodyPr>
          <a:lstStyle/>
          <a:p>
            <a:pPr algn="ctr"/>
            <a:r>
              <a:rPr lang="en-US" sz="3200" b="1" dirty="0"/>
              <a:t>Interface Of Website:</a:t>
            </a:r>
            <a:endParaRPr lang="en-IN" sz="3200" b="1" dirty="0"/>
          </a:p>
        </p:txBody>
      </p:sp>
    </p:spTree>
    <p:extLst>
      <p:ext uri="{BB962C8B-B14F-4D97-AF65-F5344CB8AC3E}">
        <p14:creationId xmlns:p14="http://schemas.microsoft.com/office/powerpoint/2010/main" val="17887782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D30C59C-EC00-8AD6-DE8E-B73ECD3CB488}"/>
              </a:ext>
            </a:extLst>
          </p:cNvPr>
          <p:cNvPicPr>
            <a:picLocks noChangeAspect="1"/>
          </p:cNvPicPr>
          <p:nvPr/>
        </p:nvPicPr>
        <p:blipFill>
          <a:blip r:embed="rId2"/>
          <a:stretch>
            <a:fillRect/>
          </a:stretch>
        </p:blipFill>
        <p:spPr>
          <a:xfrm>
            <a:off x="1852679" y="5581137"/>
            <a:ext cx="11433020" cy="2331869"/>
          </a:xfrm>
          <a:prstGeom prst="rect">
            <a:avLst/>
          </a:prstGeom>
        </p:spPr>
      </p:pic>
      <p:sp>
        <p:nvSpPr>
          <p:cNvPr id="7" name="Rectangle 6">
            <a:extLst>
              <a:ext uri="{FF2B5EF4-FFF2-40B4-BE49-F238E27FC236}">
                <a16:creationId xmlns:a16="http://schemas.microsoft.com/office/drawing/2014/main" id="{98AE7F30-91A3-4C80-7004-44BA5EC9C1A1}"/>
              </a:ext>
            </a:extLst>
          </p:cNvPr>
          <p:cNvSpPr/>
          <p:nvPr/>
        </p:nvSpPr>
        <p:spPr>
          <a:xfrm>
            <a:off x="1079500" y="503786"/>
            <a:ext cx="2120900" cy="56714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Old Data</a:t>
            </a:r>
          </a:p>
        </p:txBody>
      </p:sp>
      <p:sp>
        <p:nvSpPr>
          <p:cNvPr id="9" name="Rectangle 8">
            <a:extLst>
              <a:ext uri="{FF2B5EF4-FFF2-40B4-BE49-F238E27FC236}">
                <a16:creationId xmlns:a16="http://schemas.microsoft.com/office/drawing/2014/main" id="{1B3D17D9-126F-D289-87C1-BA0F258C8D5C}"/>
              </a:ext>
            </a:extLst>
          </p:cNvPr>
          <p:cNvSpPr/>
          <p:nvPr/>
        </p:nvSpPr>
        <p:spPr>
          <a:xfrm>
            <a:off x="1079500" y="4653631"/>
            <a:ext cx="2120900" cy="567149"/>
          </a:xfrm>
          <a:prstGeom prst="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New Data</a:t>
            </a:r>
          </a:p>
        </p:txBody>
      </p:sp>
      <p:pic>
        <p:nvPicPr>
          <p:cNvPr id="4" name="Picture 3" descr="A white background with black text&#10;&#10;AI-generated content may be incorrect.">
            <a:extLst>
              <a:ext uri="{FF2B5EF4-FFF2-40B4-BE49-F238E27FC236}">
                <a16:creationId xmlns:a16="http://schemas.microsoft.com/office/drawing/2014/main" id="{8281CA53-934F-9046-D084-724A8913E765}"/>
              </a:ext>
            </a:extLst>
          </p:cNvPr>
          <p:cNvPicPr>
            <a:picLocks noChangeAspect="1"/>
          </p:cNvPicPr>
          <p:nvPr/>
        </p:nvPicPr>
        <p:blipFill>
          <a:blip r:embed="rId3"/>
          <a:stretch>
            <a:fillRect/>
          </a:stretch>
        </p:blipFill>
        <p:spPr>
          <a:xfrm>
            <a:off x="2205259" y="2892792"/>
            <a:ext cx="11080440" cy="1516511"/>
          </a:xfrm>
          <a:prstGeom prst="rect">
            <a:avLst/>
          </a:prstGeom>
        </p:spPr>
      </p:pic>
      <p:pic>
        <p:nvPicPr>
          <p:cNvPr id="6" name="Picture 5" descr="A close up of a screen&#10;&#10;AI-generated content may be incorrect.">
            <a:extLst>
              <a:ext uri="{FF2B5EF4-FFF2-40B4-BE49-F238E27FC236}">
                <a16:creationId xmlns:a16="http://schemas.microsoft.com/office/drawing/2014/main" id="{A33A7228-C106-F6E0-3854-CF0030A02B2D}"/>
              </a:ext>
            </a:extLst>
          </p:cNvPr>
          <p:cNvPicPr>
            <a:picLocks noChangeAspect="1"/>
          </p:cNvPicPr>
          <p:nvPr/>
        </p:nvPicPr>
        <p:blipFill>
          <a:blip r:embed="rId4"/>
          <a:stretch>
            <a:fillRect/>
          </a:stretch>
        </p:blipFill>
        <p:spPr>
          <a:xfrm>
            <a:off x="2205259" y="1188482"/>
            <a:ext cx="11080440" cy="1524132"/>
          </a:xfrm>
          <a:prstGeom prst="rect">
            <a:avLst/>
          </a:prstGeom>
        </p:spPr>
      </p:pic>
    </p:spTree>
    <p:extLst>
      <p:ext uri="{BB962C8B-B14F-4D97-AF65-F5344CB8AC3E}">
        <p14:creationId xmlns:p14="http://schemas.microsoft.com/office/powerpoint/2010/main" val="37691820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02663A-ECEF-164E-BB9B-AE961C045349}"/>
              </a:ext>
            </a:extLst>
          </p:cNvPr>
          <p:cNvSpPr/>
          <p:nvPr/>
        </p:nvSpPr>
        <p:spPr>
          <a:xfrm>
            <a:off x="568036" y="1052944"/>
            <a:ext cx="14658109" cy="68164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p>
          <a:p>
            <a:pPr marL="457200" indent="-457200">
              <a:buFont typeface="Wingdings" panose="05000000000000000000" pitchFamily="2" charset="2"/>
              <a:buChar char="Ø"/>
            </a:pPr>
            <a:r>
              <a:rPr lang="en-US" sz="2800" dirty="0"/>
              <a:t>Data Visualization is the process of transforming raw data into visual formats(charts, graphs, maps) to make trends, patterns, and relationships easier to understand and communicate effectively.</a:t>
            </a:r>
          </a:p>
          <a:p>
            <a:pPr marL="457200" indent="-457200">
              <a:buFont typeface="Wingdings" panose="05000000000000000000" pitchFamily="2" charset="2"/>
              <a:buChar char="Ø"/>
            </a:pPr>
            <a:r>
              <a:rPr lang="en-US" sz="2800" dirty="0"/>
              <a:t>It helps in faster decision-making, storytelling with data, and identifying hidden insights.</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 There are 3 main types of Data Visualization techniques:</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1</a:t>
            </a:r>
            <a:r>
              <a:rPr lang="en-US" sz="2800" b="1" dirty="0"/>
              <a:t>. Univariate Analysis: </a:t>
            </a:r>
            <a:r>
              <a:rPr lang="en-US" sz="2800" dirty="0"/>
              <a:t>The analysis of one variable at a time. Example: Average price of Tomato in different districts.</a:t>
            </a:r>
          </a:p>
          <a:p>
            <a:pPr marL="457200" indent="-457200">
              <a:buFont typeface="Wingdings" panose="05000000000000000000" pitchFamily="2" charset="2"/>
              <a:buChar char="Ø"/>
            </a:pPr>
            <a:r>
              <a:rPr lang="en-US" sz="2800" dirty="0"/>
              <a:t>2. </a:t>
            </a:r>
            <a:r>
              <a:rPr lang="en-US" sz="2800" b="1" dirty="0"/>
              <a:t>Bivariate Analysis</a:t>
            </a:r>
            <a:r>
              <a:rPr lang="en-US" sz="2800" dirty="0"/>
              <a:t>: The analysis of the relationship between two variables. Example: Relationship between arrivals (supply) and average price, </a:t>
            </a:r>
          </a:p>
          <a:p>
            <a:pPr marL="457200" indent="-457200">
              <a:buFont typeface="Wingdings" panose="05000000000000000000" pitchFamily="2" charset="2"/>
              <a:buChar char="Ø"/>
            </a:pPr>
            <a:r>
              <a:rPr lang="en-US" sz="2800" dirty="0"/>
              <a:t>3</a:t>
            </a:r>
            <a:r>
              <a:rPr lang="en-US" sz="2800" b="1" dirty="0"/>
              <a:t>. Multivariate Analysis</a:t>
            </a:r>
            <a:r>
              <a:rPr lang="en-US" sz="2800" dirty="0"/>
              <a:t>: The analysis of three or more variables simultaneously. Example: Impact of variety market, and arrivals on price trends.</a:t>
            </a:r>
            <a:br>
              <a:rPr lang="en-IN" sz="2800" dirty="0"/>
            </a:br>
            <a:endParaRPr lang="en-IN" sz="2800" dirty="0"/>
          </a:p>
        </p:txBody>
      </p:sp>
      <p:sp>
        <p:nvSpPr>
          <p:cNvPr id="3" name="TextBox 2">
            <a:extLst>
              <a:ext uri="{FF2B5EF4-FFF2-40B4-BE49-F238E27FC236}">
                <a16:creationId xmlns:a16="http://schemas.microsoft.com/office/drawing/2014/main" id="{4EB58029-11FB-53DE-AB87-FE375F8BAC2D}"/>
              </a:ext>
            </a:extLst>
          </p:cNvPr>
          <p:cNvSpPr txBox="1"/>
          <p:nvPr/>
        </p:nvSpPr>
        <p:spPr>
          <a:xfrm>
            <a:off x="568036" y="468169"/>
            <a:ext cx="3034144" cy="584775"/>
          </a:xfrm>
          <a:prstGeom prst="rect">
            <a:avLst/>
          </a:prstGeom>
          <a:noFill/>
          <a:ln>
            <a:solidFill>
              <a:srgbClr val="FFFFFF"/>
            </a:solidFill>
          </a:ln>
        </p:spPr>
        <p:txBody>
          <a:bodyPr wrap="square" rtlCol="0">
            <a:spAutoFit/>
          </a:bodyPr>
          <a:lstStyle/>
          <a:p>
            <a:pPr algn="ctr"/>
            <a:r>
              <a:rPr lang="en-US" sz="3200" b="1" dirty="0"/>
              <a:t>Visualization:</a:t>
            </a:r>
            <a:endParaRPr lang="en-IN" sz="3200" b="1" dirty="0"/>
          </a:p>
        </p:txBody>
      </p:sp>
    </p:spTree>
    <p:extLst>
      <p:ext uri="{BB962C8B-B14F-4D97-AF65-F5344CB8AC3E}">
        <p14:creationId xmlns:p14="http://schemas.microsoft.com/office/powerpoint/2010/main" val="24195837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CC09986-3836-F019-A735-854C6144C0DD}"/>
              </a:ext>
            </a:extLst>
          </p:cNvPr>
          <p:cNvSpPr>
            <a:spLocks noGrp="1"/>
          </p:cNvSpPr>
          <p:nvPr>
            <p:ph type="ftr" sz="quarter" idx="11"/>
          </p:nvPr>
        </p:nvSpPr>
        <p:spPr>
          <a:xfrm>
            <a:off x="3732408" y="621265"/>
            <a:ext cx="7978381" cy="550462"/>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r>
              <a:rPr lang="en-US" sz="2800" b="1" dirty="0">
                <a:solidFill>
                  <a:schemeClr val="tx1"/>
                </a:solidFill>
              </a:rPr>
              <a:t>District wise highest and lowest Record </a:t>
            </a:r>
            <a:endParaRPr lang="en-US" sz="2800" dirty="0">
              <a:solidFill>
                <a:schemeClr val="tx1"/>
              </a:solidFill>
            </a:endParaRPr>
          </a:p>
          <a:p>
            <a:endParaRPr lang="en-US" sz="1700" dirty="0"/>
          </a:p>
        </p:txBody>
      </p:sp>
      <p:pic>
        <p:nvPicPr>
          <p:cNvPr id="5" name="Picture 4" descr="A graph of records across districts&#10;&#10;AI-generated content may be incorrect.">
            <a:extLst>
              <a:ext uri="{FF2B5EF4-FFF2-40B4-BE49-F238E27FC236}">
                <a16:creationId xmlns:a16="http://schemas.microsoft.com/office/drawing/2014/main" id="{12C03992-D20B-8BF7-52E7-70E4EB1A82F4}"/>
              </a:ext>
            </a:extLst>
          </p:cNvPr>
          <p:cNvPicPr>
            <a:picLocks noChangeAspect="1"/>
          </p:cNvPicPr>
          <p:nvPr/>
        </p:nvPicPr>
        <p:blipFill>
          <a:blip r:embed="rId2"/>
          <a:stretch>
            <a:fillRect/>
          </a:stretch>
        </p:blipFill>
        <p:spPr>
          <a:xfrm>
            <a:off x="1628218" y="1168567"/>
            <a:ext cx="12288363" cy="4796413"/>
          </a:xfrm>
          <a:prstGeom prst="rect">
            <a:avLst/>
          </a:prstGeom>
        </p:spPr>
      </p:pic>
      <p:sp>
        <p:nvSpPr>
          <p:cNvPr id="7" name="Rectangle: Rounded Corners 6">
            <a:extLst>
              <a:ext uri="{FF2B5EF4-FFF2-40B4-BE49-F238E27FC236}">
                <a16:creationId xmlns:a16="http://schemas.microsoft.com/office/drawing/2014/main" id="{47B59136-ECA1-8B59-CA89-C194F17910C8}"/>
              </a:ext>
            </a:extLst>
          </p:cNvPr>
          <p:cNvSpPr/>
          <p:nvPr/>
        </p:nvSpPr>
        <p:spPr>
          <a:xfrm>
            <a:off x="1386919" y="6159920"/>
            <a:ext cx="12800136" cy="1861873"/>
          </a:xfrm>
          <a:prstGeom prst="roundRect">
            <a:avLst/>
          </a:prstGeom>
          <a:noFill/>
          <a:ln>
            <a:solidFill>
              <a:srgbClr val="FFFFFF"/>
            </a:solidFill>
          </a:ln>
        </p:spPr>
        <p:style>
          <a:lnRef idx="1">
            <a:schemeClr val="accent4"/>
          </a:lnRef>
          <a:fillRef idx="3">
            <a:schemeClr val="accent4"/>
          </a:fillRef>
          <a:effectRef idx="2">
            <a:schemeClr val="accent4"/>
          </a:effectRef>
          <a:fontRef idx="minor">
            <a:schemeClr val="lt1"/>
          </a:fontRef>
        </p:style>
        <p:txBody>
          <a:bodyPr rtlCol="0" anchor="ctr"/>
          <a:lstStyle/>
          <a:p>
            <a:pPr marL="342900" indent="-342900">
              <a:buFont typeface="Wingdings"/>
              <a:buChar char="Ø"/>
            </a:pPr>
            <a:r>
              <a:rPr lang="en-US" sz="2400" b="1" dirty="0">
                <a:ea typeface="Calibri"/>
                <a:cs typeface="Calibri"/>
              </a:rPr>
              <a:t>Nashik District</a:t>
            </a:r>
            <a:r>
              <a:rPr lang="en-US" sz="2400" dirty="0">
                <a:ea typeface="Calibri"/>
                <a:cs typeface="Calibri"/>
              </a:rPr>
              <a:t> has the highest number of records (1622), showing </a:t>
            </a:r>
            <a:r>
              <a:rPr lang="en-US" sz="2400" b="1" dirty="0">
                <a:ea typeface="Calibri"/>
                <a:cs typeface="Calibri"/>
              </a:rPr>
              <a:t>Nashik</a:t>
            </a:r>
            <a:r>
              <a:rPr lang="en-US" sz="2400" dirty="0">
                <a:ea typeface="Calibri"/>
                <a:cs typeface="Calibri"/>
              </a:rPr>
              <a:t> is a</a:t>
            </a:r>
            <a:r>
              <a:rPr lang="en-US" sz="2400" b="1" dirty="0">
                <a:ea typeface="Calibri"/>
                <a:cs typeface="Calibri"/>
              </a:rPr>
              <a:t> Major</a:t>
            </a:r>
            <a:r>
              <a:rPr lang="en-US" sz="2400" dirty="0">
                <a:ea typeface="Calibri"/>
                <a:cs typeface="Calibri"/>
              </a:rPr>
              <a:t> trading hub.</a:t>
            </a:r>
          </a:p>
          <a:p>
            <a:pPr marL="342900" indent="-342900">
              <a:buFont typeface="Wingdings"/>
              <a:buChar char="Ø"/>
            </a:pPr>
            <a:r>
              <a:rPr lang="en-US" sz="2400" b="1" dirty="0">
                <a:ea typeface="Calibri"/>
                <a:cs typeface="Calibri"/>
              </a:rPr>
              <a:t>Districts</a:t>
            </a:r>
            <a:r>
              <a:rPr lang="en-US" sz="2400" dirty="0">
                <a:ea typeface="Calibri"/>
                <a:cs typeface="Calibri"/>
              </a:rPr>
              <a:t> like </a:t>
            </a:r>
            <a:r>
              <a:rPr lang="en-US" sz="2400" b="1" dirty="0">
                <a:ea typeface="Calibri"/>
                <a:cs typeface="Calibri"/>
              </a:rPr>
              <a:t> </a:t>
            </a:r>
            <a:r>
              <a:rPr lang="en-US" sz="2400" b="1" dirty="0" err="1">
                <a:ea typeface="Calibri"/>
                <a:cs typeface="Calibri"/>
              </a:rPr>
              <a:t>Sambhajinagar</a:t>
            </a:r>
            <a:r>
              <a:rPr lang="en-US" sz="2400" b="1" dirty="0">
                <a:ea typeface="Calibri"/>
                <a:cs typeface="Calibri"/>
              </a:rPr>
              <a:t>, Thane &amp; Pune </a:t>
            </a:r>
            <a:r>
              <a:rPr lang="en-US" sz="2400" dirty="0">
                <a:ea typeface="Calibri"/>
                <a:cs typeface="Calibri"/>
              </a:rPr>
              <a:t> also have strong activity.</a:t>
            </a:r>
          </a:p>
          <a:p>
            <a:pPr marL="342900" indent="-342900">
              <a:buFont typeface="Wingdings"/>
              <a:buChar char="Ø"/>
            </a:pPr>
            <a:r>
              <a:rPr lang="en-US" sz="2400" b="1" dirty="0"/>
              <a:t>Ahmednagar and Kolhapur</a:t>
            </a:r>
            <a:r>
              <a:rPr lang="en-US" sz="2400" dirty="0"/>
              <a:t> – Both show almost the same level of data</a:t>
            </a:r>
          </a:p>
          <a:p>
            <a:pPr marL="342900" indent="-342900">
              <a:buFont typeface="Wingdings"/>
              <a:buChar char="Ø"/>
            </a:pPr>
            <a:r>
              <a:rPr lang="en-US" sz="2400" b="1" dirty="0"/>
              <a:t>In Chandrapur</a:t>
            </a:r>
            <a:r>
              <a:rPr lang="en-US" sz="2400" dirty="0"/>
              <a:t> </a:t>
            </a:r>
            <a:r>
              <a:rPr lang="en-US" sz="2400" b="1" dirty="0">
                <a:ea typeface="Calibri"/>
                <a:cs typeface="Calibri"/>
              </a:rPr>
              <a:t>District </a:t>
            </a:r>
            <a:r>
              <a:rPr lang="en-US" sz="2400" dirty="0"/>
              <a:t>Vegetable production is decreasing here, which is why its records are low.</a:t>
            </a:r>
            <a:endParaRPr lang="en-US" sz="2400" dirty="0">
              <a:ea typeface="Calibri"/>
              <a:cs typeface="Calibri"/>
            </a:endParaRPr>
          </a:p>
        </p:txBody>
      </p:sp>
      <p:sp>
        <p:nvSpPr>
          <p:cNvPr id="9" name="TextBox 8">
            <a:extLst>
              <a:ext uri="{FF2B5EF4-FFF2-40B4-BE49-F238E27FC236}">
                <a16:creationId xmlns:a16="http://schemas.microsoft.com/office/drawing/2014/main" id="{EDEC84B7-06F3-2481-2827-E177F4D21D3A}"/>
              </a:ext>
            </a:extLst>
          </p:cNvPr>
          <p:cNvSpPr txBox="1"/>
          <p:nvPr/>
        </p:nvSpPr>
        <p:spPr>
          <a:xfrm>
            <a:off x="4704629" y="36795"/>
            <a:ext cx="60339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u="sng" dirty="0">
                <a:solidFill>
                  <a:schemeClr val="tx1"/>
                </a:solidFill>
              </a:rPr>
              <a:t>Univariate Analysis</a:t>
            </a:r>
            <a:endParaRPr lang="en-US" b="1" u="sng" dirty="0">
              <a:solidFill>
                <a:schemeClr val="tx1"/>
              </a:solidFill>
            </a:endParaRPr>
          </a:p>
        </p:txBody>
      </p:sp>
    </p:spTree>
    <p:extLst>
      <p:ext uri="{BB962C8B-B14F-4D97-AF65-F5344CB8AC3E}">
        <p14:creationId xmlns:p14="http://schemas.microsoft.com/office/powerpoint/2010/main" val="31781618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99DE2D-F405-DF49-CFDD-B84908A1D778}"/>
              </a:ext>
            </a:extLst>
          </p:cNvPr>
          <p:cNvSpPr>
            <a:spLocks noGrp="1"/>
          </p:cNvSpPr>
          <p:nvPr>
            <p:ph type="ftr" sz="quarter" idx="11"/>
          </p:nvPr>
        </p:nvSpPr>
        <p:spPr>
          <a:xfrm flipH="1">
            <a:off x="7550002" y="5633781"/>
            <a:ext cx="1619399" cy="381720"/>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endParaRPr lang="en-US"/>
          </a:p>
        </p:txBody>
      </p:sp>
      <p:pic>
        <p:nvPicPr>
          <p:cNvPr id="5" name="Picture 4" descr="A graph of records across markets&#10;&#10;AI-generated content may be incorrect.">
            <a:extLst>
              <a:ext uri="{FF2B5EF4-FFF2-40B4-BE49-F238E27FC236}">
                <a16:creationId xmlns:a16="http://schemas.microsoft.com/office/drawing/2014/main" id="{B6EA2F2A-3BD5-2E4E-FF7C-F9B420585921}"/>
              </a:ext>
            </a:extLst>
          </p:cNvPr>
          <p:cNvPicPr>
            <a:picLocks noChangeAspect="1"/>
          </p:cNvPicPr>
          <p:nvPr/>
        </p:nvPicPr>
        <p:blipFill>
          <a:blip r:embed="rId2"/>
          <a:stretch>
            <a:fillRect/>
          </a:stretch>
        </p:blipFill>
        <p:spPr>
          <a:xfrm>
            <a:off x="1396831" y="955229"/>
            <a:ext cx="12751137" cy="5211357"/>
          </a:xfrm>
          <a:prstGeom prst="rect">
            <a:avLst/>
          </a:prstGeom>
        </p:spPr>
      </p:pic>
      <p:sp>
        <p:nvSpPr>
          <p:cNvPr id="8" name="Rectangle: Rounded Corners 7">
            <a:extLst>
              <a:ext uri="{FF2B5EF4-FFF2-40B4-BE49-F238E27FC236}">
                <a16:creationId xmlns:a16="http://schemas.microsoft.com/office/drawing/2014/main" id="{9ADAE25D-6139-FB13-8C85-9CB48E6744F6}"/>
              </a:ext>
            </a:extLst>
          </p:cNvPr>
          <p:cNvSpPr/>
          <p:nvPr/>
        </p:nvSpPr>
        <p:spPr>
          <a:xfrm>
            <a:off x="2198040" y="6317672"/>
            <a:ext cx="11240501" cy="1727671"/>
          </a:xfrm>
          <a:prstGeom prst="roundRect">
            <a:avLst/>
          </a:prstGeom>
          <a:noFill/>
          <a:ln>
            <a:solidFill>
              <a:schemeClr val="tx1"/>
            </a:solidFill>
          </a:ln>
        </p:spPr>
        <p:style>
          <a:lnRef idx="1">
            <a:schemeClr val="accent4"/>
          </a:lnRef>
          <a:fillRef idx="3">
            <a:schemeClr val="accent4"/>
          </a:fillRef>
          <a:effectRef idx="2">
            <a:schemeClr val="accent4"/>
          </a:effectRef>
          <a:fontRef idx="minor">
            <a:schemeClr val="lt1"/>
          </a:fontRef>
        </p:style>
        <p:txBody>
          <a:bodyPr lIns="91440" tIns="45720" rIns="91440" bIns="45720" rtlCol="0" anchor="ctr"/>
          <a:lstStyle/>
          <a:p>
            <a:pPr marL="342900" indent="-342900">
              <a:lnSpc>
                <a:spcPct val="150000"/>
              </a:lnSpc>
              <a:buFont typeface="Wingdings"/>
              <a:buChar char="Ø"/>
            </a:pPr>
            <a:r>
              <a:rPr lang="en-US" sz="2400" dirty="0">
                <a:ea typeface="+mn-lt"/>
                <a:cs typeface="+mn-lt"/>
              </a:rPr>
              <a:t>Nashik Market is the most active market with maximum records in Maharashtra.</a:t>
            </a:r>
            <a:endParaRPr lang="en-US" sz="2400" b="1" dirty="0">
              <a:ea typeface="Calibri"/>
              <a:cs typeface="Calibri"/>
            </a:endParaRPr>
          </a:p>
          <a:p>
            <a:pPr marL="342900" indent="-342900">
              <a:lnSpc>
                <a:spcPct val="150000"/>
              </a:lnSpc>
              <a:buFont typeface="Wingdings"/>
              <a:buChar char="Ø"/>
            </a:pPr>
            <a:r>
              <a:rPr lang="en-US" sz="2400" b="1" dirty="0">
                <a:ea typeface="+mn-lt"/>
                <a:cs typeface="+mn-lt"/>
              </a:rPr>
              <a:t>Kalyan, </a:t>
            </a:r>
            <a:r>
              <a:rPr lang="en-US" sz="2400" b="1" dirty="0" err="1">
                <a:ea typeface="+mn-lt"/>
                <a:cs typeface="+mn-lt"/>
              </a:rPr>
              <a:t>Sambhajinagar</a:t>
            </a:r>
            <a:r>
              <a:rPr lang="en-US" sz="2400" b="1" dirty="0">
                <a:ea typeface="+mn-lt"/>
                <a:cs typeface="+mn-lt"/>
              </a:rPr>
              <a:t> and </a:t>
            </a:r>
            <a:r>
              <a:rPr lang="en-US" sz="2400" b="1" dirty="0" err="1">
                <a:ea typeface="+mn-lt"/>
                <a:cs typeface="+mn-lt"/>
              </a:rPr>
              <a:t>Manchar</a:t>
            </a:r>
            <a:r>
              <a:rPr lang="en-US" sz="2400" b="1" dirty="0">
                <a:ea typeface="+mn-lt"/>
                <a:cs typeface="+mn-lt"/>
              </a:rPr>
              <a:t> </a:t>
            </a:r>
            <a:r>
              <a:rPr lang="en-US" sz="2400" dirty="0">
                <a:ea typeface="+mn-lt"/>
                <a:cs typeface="+mn-lt"/>
              </a:rPr>
              <a:t>also have high participation.</a:t>
            </a:r>
            <a:endParaRPr lang="en-US" sz="2400" dirty="0">
              <a:ea typeface="Calibri"/>
              <a:cs typeface="Calibri"/>
            </a:endParaRPr>
          </a:p>
          <a:p>
            <a:pPr marL="342900" indent="-342900">
              <a:lnSpc>
                <a:spcPct val="150000"/>
              </a:lnSpc>
              <a:buFont typeface="Wingdings"/>
              <a:buChar char="Ø"/>
            </a:pPr>
            <a:r>
              <a:rPr lang="en-US" sz="2400" dirty="0">
                <a:ea typeface="+mn-lt"/>
                <a:cs typeface="+mn-lt"/>
              </a:rPr>
              <a:t>Smaller markets like Paithan and </a:t>
            </a:r>
            <a:r>
              <a:rPr lang="en-US" sz="2400" dirty="0" err="1">
                <a:ea typeface="+mn-lt"/>
                <a:cs typeface="+mn-lt"/>
              </a:rPr>
              <a:t>Rahuri</a:t>
            </a:r>
            <a:r>
              <a:rPr lang="en-US" sz="2400" dirty="0">
                <a:ea typeface="+mn-lt"/>
                <a:cs typeface="+mn-lt"/>
              </a:rPr>
              <a:t> show low activity.</a:t>
            </a:r>
            <a:endParaRPr lang="en-US" sz="1800" dirty="0">
              <a:ea typeface="Calibri" panose="020F0502020204030204"/>
              <a:cs typeface="Calibri" panose="020F0502020204030204"/>
            </a:endParaRPr>
          </a:p>
        </p:txBody>
      </p:sp>
      <p:sp>
        <p:nvSpPr>
          <p:cNvPr id="9" name="TextBox 8">
            <a:extLst>
              <a:ext uri="{FF2B5EF4-FFF2-40B4-BE49-F238E27FC236}">
                <a16:creationId xmlns:a16="http://schemas.microsoft.com/office/drawing/2014/main" id="{9C2023DD-4C7E-A3CB-80EE-7B99DF34FCD0}"/>
              </a:ext>
            </a:extLst>
          </p:cNvPr>
          <p:cNvSpPr txBox="1"/>
          <p:nvPr/>
        </p:nvSpPr>
        <p:spPr>
          <a:xfrm>
            <a:off x="3446405" y="184257"/>
            <a:ext cx="8207193" cy="523220"/>
          </a:xfrm>
          <a:prstGeom prst="rect">
            <a:avLst/>
          </a:prstGeom>
          <a:noFill/>
          <a:ln>
            <a:solidFill>
              <a:schemeClr val="tx1"/>
            </a:solidFill>
            <a:extLst>
              <a:ext uri="{C807C97D-BFC1-408E-A445-0C87EB9F89A2}">
                <ask:lineSketchStyleProps xmlns:ask="http://schemas.microsoft.com/office/drawing/2018/sketchyshapes">
                  <ask:type>
                    <ask:lineSketchNon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chemeClr val="tx1"/>
                </a:solidFill>
              </a:rPr>
              <a:t>Market wise highest and lowest Records</a:t>
            </a:r>
            <a:endParaRPr lang="en-US" sz="2800" dirty="0">
              <a:solidFill>
                <a:schemeClr val="tx1"/>
              </a:solidFill>
            </a:endParaRPr>
          </a:p>
        </p:txBody>
      </p:sp>
    </p:spTree>
    <p:extLst>
      <p:ext uri="{BB962C8B-B14F-4D97-AF65-F5344CB8AC3E}">
        <p14:creationId xmlns:p14="http://schemas.microsoft.com/office/powerpoint/2010/main" val="31356907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FF9CCF-FB1E-B7BF-4F54-0E797D4D87A5}"/>
              </a:ext>
            </a:extLst>
          </p:cNvPr>
          <p:cNvSpPr>
            <a:spLocks noGrp="1"/>
          </p:cNvSpPr>
          <p:nvPr>
            <p:ph type="ftr" sz="quarter" idx="11"/>
          </p:nvPr>
        </p:nvSpPr>
        <p:spPr>
          <a:xfrm>
            <a:off x="1279212" y="274144"/>
            <a:ext cx="5070788" cy="614856"/>
          </a:xfrm>
          <a:ln>
            <a:solidFill>
              <a:schemeClr val="tx1"/>
            </a:solid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r>
              <a:rPr lang="en-US" sz="2400" b="1" dirty="0">
                <a:solidFill>
                  <a:schemeClr val="tx1"/>
                </a:solidFill>
              </a:rPr>
              <a:t>Count of Records across Group</a:t>
            </a:r>
            <a:endParaRPr lang="en-US" sz="1800" b="1" dirty="0">
              <a:solidFill>
                <a:schemeClr val="tx1"/>
              </a:solidFill>
            </a:endParaRPr>
          </a:p>
        </p:txBody>
      </p:sp>
      <p:pic>
        <p:nvPicPr>
          <p:cNvPr id="5" name="Picture 4" descr="ByKtzCtkVFd8AAAAAElFTkSuQmCC (552×473)">
            <a:extLst>
              <a:ext uri="{FF2B5EF4-FFF2-40B4-BE49-F238E27FC236}">
                <a16:creationId xmlns:a16="http://schemas.microsoft.com/office/drawing/2014/main" id="{DEF9A666-6A89-3A33-6053-3E934D7C35D3}"/>
              </a:ext>
            </a:extLst>
          </p:cNvPr>
          <p:cNvPicPr>
            <a:picLocks noChangeAspect="1"/>
          </p:cNvPicPr>
          <p:nvPr/>
        </p:nvPicPr>
        <p:blipFill>
          <a:blip r:embed="rId2"/>
          <a:stretch>
            <a:fillRect/>
          </a:stretch>
        </p:blipFill>
        <p:spPr>
          <a:xfrm>
            <a:off x="299398" y="1454375"/>
            <a:ext cx="7163966" cy="6324754"/>
          </a:xfrm>
          <a:prstGeom prst="rect">
            <a:avLst/>
          </a:prstGeom>
        </p:spPr>
      </p:pic>
      <p:sp>
        <p:nvSpPr>
          <p:cNvPr id="6" name="Flowchart: Alternate Process 5">
            <a:extLst>
              <a:ext uri="{FF2B5EF4-FFF2-40B4-BE49-F238E27FC236}">
                <a16:creationId xmlns:a16="http://schemas.microsoft.com/office/drawing/2014/main" id="{F482A71E-1B67-D817-85A3-0D5247A379F7}"/>
              </a:ext>
            </a:extLst>
          </p:cNvPr>
          <p:cNvSpPr/>
          <p:nvPr/>
        </p:nvSpPr>
        <p:spPr>
          <a:xfrm>
            <a:off x="7899400" y="4865851"/>
            <a:ext cx="7346002" cy="2913278"/>
          </a:xfrm>
          <a:prstGeom prst="flowChartAlternateProcess">
            <a:avLst/>
          </a:prstGeom>
          <a:no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marL="342900" indent="-342900">
              <a:lnSpc>
                <a:spcPct val="150000"/>
              </a:lnSpc>
              <a:buFont typeface="Wingdings"/>
              <a:buChar char="Ø"/>
            </a:pPr>
            <a:r>
              <a:rPr lang="en-US" sz="2400" dirty="0"/>
              <a:t>All varieties are divided into three main categories</a:t>
            </a:r>
          </a:p>
          <a:p>
            <a:pPr marL="342900" indent="-342900">
              <a:lnSpc>
                <a:spcPct val="150000"/>
              </a:lnSpc>
              <a:buFont typeface="Wingdings"/>
              <a:buChar char="Ø"/>
            </a:pPr>
            <a:r>
              <a:rPr lang="en-US" sz="2400" b="1" dirty="0"/>
              <a:t>Vegetables</a:t>
            </a:r>
            <a:r>
              <a:rPr lang="en-US" sz="2400" dirty="0"/>
              <a:t> – the largest group, including cabbage, brinjal, tomato, potato, carrot, capsicum, and onion.</a:t>
            </a:r>
          </a:p>
          <a:p>
            <a:pPr marL="342900" indent="-342900">
              <a:lnSpc>
                <a:spcPct val="150000"/>
              </a:lnSpc>
              <a:buFont typeface="Wingdings"/>
              <a:buChar char="Ø"/>
            </a:pPr>
            <a:r>
              <a:rPr lang="en-IN" sz="2400" b="1" dirty="0"/>
              <a:t>Pulses &amp; Spices</a:t>
            </a:r>
            <a:r>
              <a:rPr lang="en-IN" sz="2400" dirty="0"/>
              <a:t>– represented by </a:t>
            </a:r>
            <a:r>
              <a:rPr lang="en-IN" sz="2400" b="1" dirty="0"/>
              <a:t>Beans &amp; Garlic</a:t>
            </a:r>
          </a:p>
        </p:txBody>
      </p:sp>
      <p:pic>
        <p:nvPicPr>
          <p:cNvPr id="2050" name="Picture 2" descr="Categories of Fruit and Vegetables ...">
            <a:extLst>
              <a:ext uri="{FF2B5EF4-FFF2-40B4-BE49-F238E27FC236}">
                <a16:creationId xmlns:a16="http://schemas.microsoft.com/office/drawing/2014/main" id="{3DC80DD5-FA49-07D3-C60C-BE5C9C8DF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802" y="581572"/>
            <a:ext cx="4512149" cy="3860058"/>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5048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 fill="hold"/>
                                        <p:tgtEl>
                                          <p:spTgt spid="2050"/>
                                        </p:tgtEl>
                                        <p:attrNameLst>
                                          <p:attrName>ppt_w</p:attrName>
                                        </p:attrNameLst>
                                      </p:cBhvr>
                                      <p:tavLst>
                                        <p:tav tm="0">
                                          <p:val>
                                            <p:fltVal val="0"/>
                                          </p:val>
                                        </p:tav>
                                        <p:tav tm="100000">
                                          <p:val>
                                            <p:strVal val="#ppt_w"/>
                                          </p:val>
                                        </p:tav>
                                      </p:tavLst>
                                    </p:anim>
                                    <p:anim calcmode="lin" valueType="num">
                                      <p:cBhvr>
                                        <p:cTn id="8" dur="500" fill="hold"/>
                                        <p:tgtEl>
                                          <p:spTgt spid="2050"/>
                                        </p:tgtEl>
                                        <p:attrNameLst>
                                          <p:attrName>ppt_h</p:attrName>
                                        </p:attrNameLst>
                                      </p:cBhvr>
                                      <p:tavLst>
                                        <p:tav tm="0">
                                          <p:val>
                                            <p:fltVal val="0"/>
                                          </p:val>
                                        </p:tav>
                                        <p:tav tm="100000">
                                          <p:val>
                                            <p:strVal val="#ppt_h"/>
                                          </p:val>
                                        </p:tav>
                                      </p:tavLst>
                                    </p:anim>
                                    <p:animEffect transition="in" filter="fade">
                                      <p:cBhvr>
                                        <p:cTn id="9"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jAAAAAElFTkSuQmCC (541×482)">
            <a:extLst>
              <a:ext uri="{FF2B5EF4-FFF2-40B4-BE49-F238E27FC236}">
                <a16:creationId xmlns:a16="http://schemas.microsoft.com/office/drawing/2014/main" id="{3D466905-FD48-DD61-EDA8-953809DE9CF9}"/>
              </a:ext>
            </a:extLst>
          </p:cNvPr>
          <p:cNvPicPr>
            <a:picLocks noChangeAspect="1"/>
          </p:cNvPicPr>
          <p:nvPr/>
        </p:nvPicPr>
        <p:blipFill>
          <a:blip r:embed="rId2"/>
          <a:stretch>
            <a:fillRect/>
          </a:stretch>
        </p:blipFill>
        <p:spPr>
          <a:xfrm>
            <a:off x="257934" y="1542119"/>
            <a:ext cx="7194949" cy="62577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Rounded Corners 3">
            <a:extLst>
              <a:ext uri="{FF2B5EF4-FFF2-40B4-BE49-F238E27FC236}">
                <a16:creationId xmlns:a16="http://schemas.microsoft.com/office/drawing/2014/main" id="{12575D70-05C4-F691-E672-C7BF84B63D24}"/>
              </a:ext>
            </a:extLst>
          </p:cNvPr>
          <p:cNvSpPr/>
          <p:nvPr/>
        </p:nvSpPr>
        <p:spPr>
          <a:xfrm>
            <a:off x="7975600" y="4129544"/>
            <a:ext cx="7023100" cy="3670300"/>
          </a:xfrm>
          <a:prstGeom prst="roundRect">
            <a:avLst/>
          </a:prstGeom>
          <a:noFill/>
          <a:ln>
            <a:solidFill>
              <a:schemeClr val="tx1"/>
            </a:solidFill>
          </a:ln>
        </p:spPr>
        <p:style>
          <a:lnRef idx="1">
            <a:schemeClr val="accent4"/>
          </a:lnRef>
          <a:fillRef idx="3">
            <a:schemeClr val="accent4"/>
          </a:fillRef>
          <a:effectRef idx="2">
            <a:schemeClr val="accent4"/>
          </a:effectRef>
          <a:fontRef idx="minor">
            <a:schemeClr val="lt1"/>
          </a:fontRef>
        </p:style>
        <p:txBody>
          <a:bodyPr lIns="91440" tIns="45720" rIns="91440" bIns="45720" rtlCol="0" anchor="ctr"/>
          <a:lstStyle/>
          <a:p>
            <a:pPr marL="285750" indent="-285750">
              <a:buFont typeface="Wingdings"/>
              <a:buChar char="Ø"/>
            </a:pPr>
            <a:endParaRPr lang="en-US" sz="2400" dirty="0">
              <a:ea typeface="+mn-lt"/>
              <a:cs typeface="+mn-lt"/>
            </a:endParaRPr>
          </a:p>
          <a:p>
            <a:pPr marL="285750" indent="-285750">
              <a:buFont typeface="Wingdings"/>
              <a:buChar char="Ø"/>
            </a:pPr>
            <a:endParaRPr lang="en-US" sz="2400" dirty="0">
              <a:ea typeface="Calibri"/>
              <a:cs typeface="Calibri"/>
            </a:endParaRPr>
          </a:p>
          <a:p>
            <a:endParaRPr lang="en-US" sz="2400" dirty="0">
              <a:ea typeface="Calibri"/>
              <a:cs typeface="Calibri"/>
            </a:endParaRPr>
          </a:p>
          <a:p>
            <a:pPr marL="342900" indent="-342900">
              <a:buFont typeface="Wingdings"/>
              <a:buChar char="Ø"/>
            </a:pPr>
            <a:r>
              <a:rPr lang="en-US" sz="2400" dirty="0">
                <a:ea typeface="Calibri"/>
                <a:cs typeface="Calibri"/>
              </a:rPr>
              <a:t>Cabbage has the largest share (28%).</a:t>
            </a:r>
          </a:p>
          <a:p>
            <a:pPr marL="285750" indent="-285750">
              <a:buFont typeface="Wingdings"/>
              <a:buChar char="Ø"/>
            </a:pPr>
            <a:r>
              <a:rPr lang="en-US" sz="2400" dirty="0"/>
              <a:t>Brinjal, Tomato, Potato, and Beans have a good part (12%–16%).</a:t>
            </a:r>
          </a:p>
          <a:p>
            <a:pPr marL="285750" indent="-285750">
              <a:buFont typeface="Wingdings"/>
              <a:buChar char="Ø"/>
            </a:pPr>
            <a:r>
              <a:rPr lang="en-US" sz="2400" dirty="0"/>
              <a:t>Carrot and Capsicum have a very small part.</a:t>
            </a:r>
          </a:p>
          <a:p>
            <a:pPr marL="285750" indent="-285750">
              <a:buFont typeface="Wingdings"/>
              <a:buChar char="Ø"/>
            </a:pPr>
            <a:r>
              <a:rPr lang="en-US" sz="2400" dirty="0"/>
              <a:t>Cabbage, Brinjal, and Tomato are the main crops with the largest share, safer for steady income</a:t>
            </a:r>
          </a:p>
          <a:p>
            <a:pPr marL="285750" indent="-285750">
              <a:buFont typeface="Wingdings"/>
              <a:buChar char="Ø"/>
            </a:pPr>
            <a:r>
              <a:rPr lang="en-US" sz="2400" dirty="0"/>
              <a:t>Garlic &amp; Onion have a smaller part but can give higher profit.</a:t>
            </a:r>
            <a:endParaRPr lang="en-US" sz="2400" dirty="0">
              <a:ea typeface="Calibri"/>
              <a:cs typeface="Calibri"/>
            </a:endParaRPr>
          </a:p>
          <a:p>
            <a:pPr marL="285750" indent="-285750">
              <a:buFont typeface="Wingdings"/>
              <a:buChar char="Ø"/>
            </a:pPr>
            <a:endParaRPr lang="en-US" sz="3200" dirty="0">
              <a:ea typeface="Calibri"/>
              <a:cs typeface="Calibri"/>
            </a:endParaRPr>
          </a:p>
          <a:p>
            <a:pPr marL="285750" indent="-285750">
              <a:buFont typeface="Wingdings"/>
              <a:buChar char="Ø"/>
            </a:pPr>
            <a:endParaRPr lang="en-US" sz="2400" dirty="0">
              <a:ea typeface="Calibri"/>
              <a:cs typeface="Calibri"/>
            </a:endParaRPr>
          </a:p>
          <a:p>
            <a:pPr marL="285750" indent="-285750">
              <a:buFont typeface="Wingdings"/>
              <a:buChar char="Ø"/>
            </a:pPr>
            <a:endParaRPr lang="en-US" dirty="0">
              <a:ea typeface="Calibri" panose="020F0502020204030204"/>
              <a:cs typeface="Calibri" panose="020F0502020204030204"/>
            </a:endParaRPr>
          </a:p>
        </p:txBody>
      </p:sp>
      <p:sp>
        <p:nvSpPr>
          <p:cNvPr id="5" name="TextBox 4">
            <a:extLst>
              <a:ext uri="{FF2B5EF4-FFF2-40B4-BE49-F238E27FC236}">
                <a16:creationId xmlns:a16="http://schemas.microsoft.com/office/drawing/2014/main" id="{9B22AB03-D992-38C2-EED5-CC4A0E8B7076}"/>
              </a:ext>
            </a:extLst>
          </p:cNvPr>
          <p:cNvSpPr txBox="1"/>
          <p:nvPr/>
        </p:nvSpPr>
        <p:spPr>
          <a:xfrm>
            <a:off x="461134" y="429756"/>
            <a:ext cx="6530044" cy="523220"/>
          </a:xfrm>
          <a:prstGeom prst="rect">
            <a:avLst/>
          </a:prstGeom>
          <a:noFill/>
          <a:ln>
            <a:solidFill>
              <a:schemeClr val="tx1"/>
            </a:solidFill>
            <a:extLst>
              <a:ext uri="{C807C97D-BFC1-408E-A445-0C87EB9F89A2}">
                <ask:lineSketchStyleProps xmlns:ask="http://schemas.microsoft.com/office/drawing/2018/sketchyshapes">
                  <ask:type>
                    <ask:lineSketchNon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chemeClr val="tx1"/>
                </a:solidFill>
              </a:rPr>
              <a:t>Variety-wise Highest Market Records</a:t>
            </a:r>
            <a:endParaRPr lang="en-US" sz="2800" dirty="0">
              <a:solidFill>
                <a:schemeClr val="tx1"/>
              </a:solidFill>
            </a:endParaRPr>
          </a:p>
        </p:txBody>
      </p:sp>
      <p:pic>
        <p:nvPicPr>
          <p:cNvPr id="1026" name="Picture 2" descr="1,000+ Free Cabbage &amp; Vegetables Images ...">
            <a:extLst>
              <a:ext uri="{FF2B5EF4-FFF2-40B4-BE49-F238E27FC236}">
                <a16:creationId xmlns:a16="http://schemas.microsoft.com/office/drawing/2014/main" id="{5AC335C9-BD6E-C9F7-288C-1E8BFA871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158" y="0"/>
            <a:ext cx="5083349" cy="3554769"/>
          </a:xfrm>
          <a:prstGeom prst="rect">
            <a:avLst/>
          </a:prstGeom>
          <a:noFill/>
          <a:effectLst>
            <a:softEdge rad="317500"/>
          </a:effectLst>
          <a:scene3d>
            <a:camera prst="obliqueBottomLef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995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60DE428-845C-CB00-ABF8-56CD907E1BD4}"/>
              </a:ext>
            </a:extLst>
          </p:cNvPr>
          <p:cNvSpPr>
            <a:spLocks noGrp="1"/>
          </p:cNvSpPr>
          <p:nvPr>
            <p:ph type="ftr" sz="quarter" idx="11"/>
          </p:nvPr>
        </p:nvSpPr>
        <p:spPr>
          <a:xfrm>
            <a:off x="4181319" y="166705"/>
            <a:ext cx="6248648" cy="597766"/>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r>
              <a:rPr lang="en-US" sz="2400" b="1" dirty="0">
                <a:solidFill>
                  <a:schemeClr val="tx1"/>
                </a:solidFill>
              </a:rPr>
              <a:t>Distribution Of Monthly Reporting Trends</a:t>
            </a:r>
            <a:endParaRPr lang="en-US" sz="2400" dirty="0">
              <a:solidFill>
                <a:schemeClr val="tx1"/>
              </a:solidFill>
            </a:endParaRPr>
          </a:p>
        </p:txBody>
      </p:sp>
      <p:pic>
        <p:nvPicPr>
          <p:cNvPr id="6" name="Picture 5" descr="9yQZEREReWItWLCA0tJSdu3a1dyliIiISBPTHXkRERF5IKvVSn19faPntWnT5rHsrRcRERFbCvIiIiLyQKWlpURHRzd6XkJCAomJiU1QkYiISOum1noRERF5oNraWsrLyxs9z83NjZ49ezZBRSIiIq2bgryIiIiIiIiIHdFGNhERERERERE7oiAvIiIiIiIiYkcU5EVERERERETsiIK8iIiIiIiIiB1RkBcRERERERGxIwryIiIiIiIiInZEQV5ERERERETEjvwv+DaRaeleNTsAAAAASUVORK5CYII= (1010×566)">
            <a:extLst>
              <a:ext uri="{FF2B5EF4-FFF2-40B4-BE49-F238E27FC236}">
                <a16:creationId xmlns:a16="http://schemas.microsoft.com/office/drawing/2014/main" id="{6214328E-963B-A647-BD0A-2541219E2627}"/>
              </a:ext>
            </a:extLst>
          </p:cNvPr>
          <p:cNvPicPr>
            <a:picLocks noChangeAspect="1"/>
          </p:cNvPicPr>
          <p:nvPr/>
        </p:nvPicPr>
        <p:blipFill>
          <a:blip r:embed="rId2"/>
          <a:stretch>
            <a:fillRect/>
          </a:stretch>
        </p:blipFill>
        <p:spPr>
          <a:xfrm>
            <a:off x="1993718" y="923489"/>
            <a:ext cx="11446878" cy="5028494"/>
          </a:xfrm>
          <a:prstGeom prst="rect">
            <a:avLst/>
          </a:prstGeom>
        </p:spPr>
      </p:pic>
      <p:sp>
        <p:nvSpPr>
          <p:cNvPr id="5" name="Rectangle: Rounded Corners 4">
            <a:extLst>
              <a:ext uri="{FF2B5EF4-FFF2-40B4-BE49-F238E27FC236}">
                <a16:creationId xmlns:a16="http://schemas.microsoft.com/office/drawing/2014/main" id="{3FD74EB2-A02E-8E72-5CED-234265E4C15F}"/>
              </a:ext>
            </a:extLst>
          </p:cNvPr>
          <p:cNvSpPr/>
          <p:nvPr/>
        </p:nvSpPr>
        <p:spPr>
          <a:xfrm>
            <a:off x="1128289" y="6225301"/>
            <a:ext cx="13237422" cy="1670729"/>
          </a:xfrm>
          <a:prstGeom prst="roundRect">
            <a:avLst/>
          </a:prstGeom>
          <a:no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marL="342900" indent="-342900">
              <a:buFont typeface="Wingdings"/>
              <a:buChar char="Ø"/>
            </a:pPr>
            <a:endParaRPr lang="en-US" sz="2400" dirty="0"/>
          </a:p>
          <a:p>
            <a:pPr marL="342900" indent="-342900">
              <a:buFont typeface="Wingdings"/>
              <a:buChar char="Ø"/>
            </a:pPr>
            <a:r>
              <a:rPr lang="en-US" sz="2400" dirty="0"/>
              <a:t>In </a:t>
            </a:r>
            <a:r>
              <a:rPr lang="en-US" sz="2400" b="1" dirty="0"/>
              <a:t>Nov and Dec </a:t>
            </a:r>
            <a:r>
              <a:rPr lang="en-US" sz="2400" dirty="0"/>
              <a:t>, very few records were reported (close to 30–40 only).</a:t>
            </a:r>
            <a:endParaRPr lang="en-US" sz="2400" dirty="0">
              <a:ea typeface="Calibri"/>
              <a:cs typeface="Calibri"/>
            </a:endParaRPr>
          </a:p>
          <a:p>
            <a:pPr marL="342900" indent="-342900">
              <a:buFont typeface="Wingdings"/>
              <a:buChar char="Ø"/>
            </a:pPr>
            <a:r>
              <a:rPr lang="en-US" sz="2400" b="1" dirty="0">
                <a:ea typeface="+mn-lt"/>
                <a:cs typeface="+mn-lt"/>
              </a:rPr>
              <a:t>Records peaked in January 2025</a:t>
            </a:r>
            <a:r>
              <a:rPr lang="en-US" sz="2400" dirty="0">
                <a:ea typeface="+mn-lt"/>
                <a:cs typeface="+mn-lt"/>
              </a:rPr>
              <a:t>, showing the highest market activity.</a:t>
            </a:r>
            <a:endParaRPr lang="en-US" sz="2400" dirty="0">
              <a:ea typeface="Calibri"/>
              <a:cs typeface="Calibri"/>
            </a:endParaRPr>
          </a:p>
          <a:p>
            <a:pPr marL="342900" indent="-342900">
              <a:buFont typeface="Wingdings"/>
              <a:buChar char="Ø"/>
            </a:pPr>
            <a:r>
              <a:rPr lang="en-US" sz="2400" b="1" dirty="0">
                <a:ea typeface="+mn-lt"/>
                <a:cs typeface="+mn-lt"/>
              </a:rPr>
              <a:t>Consistently strong reporting</a:t>
            </a:r>
            <a:r>
              <a:rPr lang="en-US" sz="2400" dirty="0">
                <a:ea typeface="+mn-lt"/>
                <a:cs typeface="+mn-lt"/>
              </a:rPr>
              <a:t> was observed from January to July.</a:t>
            </a:r>
            <a:endParaRPr lang="en-US" sz="2400" dirty="0">
              <a:ea typeface="Calibri"/>
              <a:cs typeface="Calibri"/>
            </a:endParaRPr>
          </a:p>
          <a:p>
            <a:pPr marL="342900" indent="-342900">
              <a:buFont typeface="Wingdings"/>
              <a:buChar char="Ø"/>
            </a:pPr>
            <a:r>
              <a:rPr lang="en-US" sz="2400" b="1" dirty="0">
                <a:ea typeface="+mn-lt"/>
                <a:cs typeface="+mn-lt"/>
              </a:rPr>
              <a:t>August shows a decline</a:t>
            </a:r>
            <a:r>
              <a:rPr lang="en-US" sz="2400" dirty="0">
                <a:ea typeface="+mn-lt"/>
                <a:cs typeface="+mn-lt"/>
              </a:rPr>
              <a:t>, indicating reduced arrivals or incomplete reporting.</a:t>
            </a:r>
            <a:endParaRPr lang="en-US" sz="2400" dirty="0">
              <a:ea typeface="Calibri"/>
              <a:cs typeface="Calibri"/>
            </a:endParaRPr>
          </a:p>
          <a:p>
            <a:pPr algn="ctr"/>
            <a:endParaRPr lang="en-US" dirty="0">
              <a:ea typeface="Calibri"/>
              <a:cs typeface="Calibri"/>
            </a:endParaRPr>
          </a:p>
        </p:txBody>
      </p:sp>
    </p:spTree>
    <p:extLst>
      <p:ext uri="{BB962C8B-B14F-4D97-AF65-F5344CB8AC3E}">
        <p14:creationId xmlns:p14="http://schemas.microsoft.com/office/powerpoint/2010/main" val="13727767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E39093-76CC-254F-A2D9-5DC0CA5F0B00}"/>
              </a:ext>
            </a:extLst>
          </p:cNvPr>
          <p:cNvSpPr txBox="1"/>
          <p:nvPr/>
        </p:nvSpPr>
        <p:spPr>
          <a:xfrm>
            <a:off x="5941921" y="2528772"/>
            <a:ext cx="2793406" cy="502619"/>
          </a:xfrm>
          <a:prstGeom prst="rect">
            <a:avLst/>
          </a:prstGeom>
          <a:noFill/>
        </p:spPr>
        <p:txBody>
          <a:bodyPr rot="0" spcFirstLastPara="0" vertOverflow="overflow" horzOverflow="overflow" vert="horz" wrap="square" lIns="50800" tIns="25400" rIns="50800" bIns="2540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l"/>
            <a:endParaRPr lang="en-US" sz="778"/>
          </a:p>
        </p:txBody>
      </p:sp>
      <p:sp>
        <p:nvSpPr>
          <p:cNvPr id="10" name="TextBox 9">
            <a:extLst>
              <a:ext uri="{FF2B5EF4-FFF2-40B4-BE49-F238E27FC236}">
                <a16:creationId xmlns:a16="http://schemas.microsoft.com/office/drawing/2014/main" id="{EFF09C78-10B5-0B01-2DB9-C91CC994AFBE}"/>
              </a:ext>
            </a:extLst>
          </p:cNvPr>
          <p:cNvSpPr txBox="1"/>
          <p:nvPr/>
        </p:nvSpPr>
        <p:spPr>
          <a:xfrm>
            <a:off x="5352313" y="3302034"/>
            <a:ext cx="2580759" cy="212647"/>
          </a:xfrm>
          <a:prstGeom prst="rect">
            <a:avLst/>
          </a:prstGeom>
          <a:noFill/>
        </p:spPr>
        <p:txBody>
          <a:bodyPr rot="0" spcFirstLastPara="0" vertOverflow="overflow" horzOverflow="overflow" vert="horz" wrap="square" lIns="50800" tIns="25400" rIns="50800" bIns="2540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l"/>
            <a:endParaRPr lang="en-US" sz="778"/>
          </a:p>
        </p:txBody>
      </p:sp>
      <p:pic>
        <p:nvPicPr>
          <p:cNvPr id="7" name="Picture 6" descr="D38bvRgqNVTwAAAAAElFTkSuQmCC (1384×584)">
            <a:extLst>
              <a:ext uri="{FF2B5EF4-FFF2-40B4-BE49-F238E27FC236}">
                <a16:creationId xmlns:a16="http://schemas.microsoft.com/office/drawing/2014/main" id="{ABABDFBF-BA94-AEA5-23A9-3C66DCECA609}"/>
              </a:ext>
            </a:extLst>
          </p:cNvPr>
          <p:cNvPicPr>
            <a:picLocks noChangeAspect="1"/>
          </p:cNvPicPr>
          <p:nvPr/>
        </p:nvPicPr>
        <p:blipFill>
          <a:blip r:embed="rId2"/>
          <a:stretch>
            <a:fillRect/>
          </a:stretch>
        </p:blipFill>
        <p:spPr>
          <a:xfrm>
            <a:off x="1107683" y="1041400"/>
            <a:ext cx="13205217" cy="5095545"/>
          </a:xfrm>
          <a:prstGeom prst="rect">
            <a:avLst/>
          </a:prstGeom>
        </p:spPr>
      </p:pic>
      <p:sp>
        <p:nvSpPr>
          <p:cNvPr id="11" name="Rectangle: Rounded Corners 10">
            <a:extLst>
              <a:ext uri="{FF2B5EF4-FFF2-40B4-BE49-F238E27FC236}">
                <a16:creationId xmlns:a16="http://schemas.microsoft.com/office/drawing/2014/main" id="{AA3795E9-764C-DC79-9476-C676FC49DC67}"/>
              </a:ext>
            </a:extLst>
          </p:cNvPr>
          <p:cNvSpPr/>
          <p:nvPr/>
        </p:nvSpPr>
        <p:spPr>
          <a:xfrm>
            <a:off x="2508912" y="6360784"/>
            <a:ext cx="10526973" cy="1654831"/>
          </a:xfrm>
          <a:prstGeom prst="roundRect">
            <a:avLst/>
          </a:prstGeom>
          <a:noFill/>
          <a:ln>
            <a:solidFill>
              <a:srgbClr val="FFFFFF"/>
            </a:solidFill>
          </a:ln>
        </p:spPr>
        <p:style>
          <a:lnRef idx="1">
            <a:schemeClr val="accent4"/>
          </a:lnRef>
          <a:fillRef idx="3">
            <a:schemeClr val="accent4"/>
          </a:fillRef>
          <a:effectRef idx="2">
            <a:schemeClr val="accent4"/>
          </a:effectRef>
          <a:fontRef idx="minor">
            <a:schemeClr val="lt1"/>
          </a:fontRef>
        </p:style>
        <p:txBody>
          <a:bodyPr lIns="91440" tIns="45720" rIns="91440" bIns="45720" rtlCol="0" anchor="ctr"/>
          <a:lstStyle/>
          <a:p>
            <a:pPr marL="342900" indent="-342900">
              <a:buFont typeface="Wingdings"/>
              <a:buChar char="Ø"/>
            </a:pPr>
            <a:endParaRPr lang="en-US" sz="2400" dirty="0">
              <a:ea typeface="+mn-lt"/>
              <a:cs typeface="+mn-lt"/>
            </a:endParaRPr>
          </a:p>
          <a:p>
            <a:pPr marL="342900" indent="-342900">
              <a:buFont typeface="Wingdings"/>
              <a:buChar char="Ø"/>
            </a:pPr>
            <a:r>
              <a:rPr lang="en-US" sz="2400" dirty="0">
                <a:ea typeface="+mn-lt"/>
                <a:cs typeface="+mn-lt"/>
              </a:rPr>
              <a:t>Most crops price are between the </a:t>
            </a:r>
            <a:r>
              <a:rPr lang="en-US" sz="2400" b="1" dirty="0">
                <a:ea typeface="+mn-lt"/>
                <a:cs typeface="+mn-lt"/>
              </a:rPr>
              <a:t>500–3000 </a:t>
            </a:r>
            <a:r>
              <a:rPr lang="en-US" sz="2400" dirty="0">
                <a:ea typeface="+mn-lt"/>
                <a:cs typeface="+mn-lt"/>
              </a:rPr>
              <a:t>per quintal (common price range).</a:t>
            </a:r>
            <a:endParaRPr lang="en-US" dirty="0">
              <a:ea typeface="Calibri" panose="020F0502020204030204"/>
              <a:cs typeface="Calibri" panose="020F0502020204030204"/>
            </a:endParaRPr>
          </a:p>
          <a:p>
            <a:pPr marL="342900" indent="-342900">
              <a:buFont typeface="Wingdings"/>
              <a:buChar char="Ø"/>
            </a:pPr>
            <a:r>
              <a:rPr lang="en-US" sz="2400" dirty="0">
                <a:ea typeface="+mn-lt"/>
                <a:cs typeface="+mn-lt"/>
              </a:rPr>
              <a:t>Only, Few crops reach very high prices, more than 5000, but these are rare cases. As we can say these are the outliers.</a:t>
            </a:r>
          </a:p>
          <a:p>
            <a:pPr marL="342900" indent="-342900">
              <a:buFont typeface="Wingdings"/>
              <a:buChar char="Ø"/>
            </a:pPr>
            <a:r>
              <a:rPr lang="en-US" sz="2400" dirty="0">
                <a:ea typeface="+mn-lt"/>
                <a:cs typeface="+mn-lt"/>
              </a:rPr>
              <a:t>Prices are uneven and unstable, with many sudden highs and lows (outliers).</a:t>
            </a:r>
          </a:p>
          <a:p>
            <a:pPr marL="457200" indent="-457200">
              <a:buFont typeface="Wingdings"/>
              <a:buChar char="Ø"/>
            </a:pPr>
            <a:endParaRPr lang="en-US" sz="3200" dirty="0">
              <a:ea typeface="Calibri"/>
              <a:cs typeface="Calibri"/>
            </a:endParaRPr>
          </a:p>
        </p:txBody>
      </p:sp>
      <p:sp>
        <p:nvSpPr>
          <p:cNvPr id="8" name="TextBox 7">
            <a:extLst>
              <a:ext uri="{FF2B5EF4-FFF2-40B4-BE49-F238E27FC236}">
                <a16:creationId xmlns:a16="http://schemas.microsoft.com/office/drawing/2014/main" id="{F3E5E3BD-DE39-0098-C1D6-87C90C00BC20}"/>
              </a:ext>
            </a:extLst>
          </p:cNvPr>
          <p:cNvSpPr txBox="1"/>
          <p:nvPr/>
        </p:nvSpPr>
        <p:spPr>
          <a:xfrm>
            <a:off x="4276676" y="228904"/>
            <a:ext cx="7312791"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chemeClr val="tx1"/>
                </a:solidFill>
              </a:rPr>
              <a:t>Statistical Distribution of Average Prices</a:t>
            </a:r>
          </a:p>
          <a:p>
            <a:br>
              <a:rPr lang="en-US" dirty="0"/>
            </a:br>
            <a:endParaRPr lang="en-US" dirty="0"/>
          </a:p>
          <a:p>
            <a:pPr algn="l"/>
            <a:endParaRPr lang="en-US" dirty="0"/>
          </a:p>
        </p:txBody>
      </p:sp>
    </p:spTree>
    <p:extLst>
      <p:ext uri="{BB962C8B-B14F-4D97-AF65-F5344CB8AC3E}">
        <p14:creationId xmlns:p14="http://schemas.microsoft.com/office/powerpoint/2010/main" val="3872828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30814E-D4B6-F00F-5F13-F0D7690BCD65}"/>
              </a:ext>
            </a:extLst>
          </p:cNvPr>
          <p:cNvSpPr>
            <a:spLocks noGrp="1"/>
          </p:cNvSpPr>
          <p:nvPr>
            <p:ph type="sldNum" sz="quarter" idx="12"/>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fld id="{A65A5C87-DF58-40C8-B092-1DE63DB4547E}" type="slidenum">
              <a:rPr lang="en-US" dirty="0"/>
              <a:t>14</a:t>
            </a:fld>
            <a:endParaRPr lang="en-US"/>
          </a:p>
        </p:txBody>
      </p:sp>
      <p:sp>
        <p:nvSpPr>
          <p:cNvPr id="5" name="TextBox 4">
            <a:extLst>
              <a:ext uri="{FF2B5EF4-FFF2-40B4-BE49-F238E27FC236}">
                <a16:creationId xmlns:a16="http://schemas.microsoft.com/office/drawing/2014/main" id="{362C0A99-DD8E-2E55-2AD0-8FAE69884848}"/>
              </a:ext>
            </a:extLst>
          </p:cNvPr>
          <p:cNvSpPr txBox="1"/>
          <p:nvPr/>
        </p:nvSpPr>
        <p:spPr>
          <a:xfrm>
            <a:off x="6045785" y="88980"/>
            <a:ext cx="3237820" cy="1774845"/>
          </a:xfrm>
          <a:prstGeom prst="rect">
            <a:avLst/>
          </a:prstGeom>
          <a:noFill/>
          <a:ln w="12700">
            <a:noFill/>
          </a:ln>
        </p:spPr>
        <p:txBody>
          <a:bodyPr rot="0" spcFirstLastPara="0" vertOverflow="overflow" horzOverflow="overflow" vert="horz" wrap="square" lIns="50800" tIns="25400" rIns="50800" bIns="2540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r>
              <a:rPr lang="en-US" sz="2800" b="1" u="sng" dirty="0" err="1">
                <a:solidFill>
                  <a:schemeClr val="tx1"/>
                </a:solidFill>
                <a:latin typeface="+mn-lt"/>
              </a:rPr>
              <a:t>Bivarite</a:t>
            </a:r>
            <a:r>
              <a:rPr lang="en-US" sz="2800" b="1" u="sng" dirty="0">
                <a:solidFill>
                  <a:schemeClr val="tx1"/>
                </a:solidFill>
                <a:latin typeface="+mn-lt"/>
              </a:rPr>
              <a:t> analysis</a:t>
            </a:r>
          </a:p>
          <a:p>
            <a:pPr algn="ctr"/>
            <a:endParaRPr lang="en-US" sz="2800" dirty="0">
              <a:latin typeface="+mn-lt"/>
            </a:endParaRPr>
          </a:p>
          <a:p>
            <a:br>
              <a:rPr lang="en-US" sz="2800" dirty="0">
                <a:latin typeface="+mn-lt"/>
              </a:rPr>
            </a:br>
            <a:endParaRPr lang="en-US" sz="2800" dirty="0">
              <a:latin typeface="+mn-lt"/>
            </a:endParaRPr>
          </a:p>
        </p:txBody>
      </p:sp>
      <p:pic>
        <p:nvPicPr>
          <p:cNvPr id="7" name="Picture 6" descr="k9u9CFJ0iep1+vc3t5ycHDA4uKigUyS9CpDmSRJnySOY2q1GtPT04RhmPXtSJL+UbYvSpIkSVKG3OhDkiRJkjJkKJMkSZKkDBnKJEmSJClDhjJJkiRJypChTJIkSZIyZCiTJEmSpAwZyiRJkiQpQ4YySZIkScqQoUySJEmSMvQCccEl6xvck6AAAAAASUVORK5CYII= (869×396)">
            <a:extLst>
              <a:ext uri="{FF2B5EF4-FFF2-40B4-BE49-F238E27FC236}">
                <a16:creationId xmlns:a16="http://schemas.microsoft.com/office/drawing/2014/main" id="{28EAC9CE-447C-5FD0-82BB-62E8F2E5DA31}"/>
              </a:ext>
            </a:extLst>
          </p:cNvPr>
          <p:cNvPicPr>
            <a:picLocks noChangeAspect="1"/>
          </p:cNvPicPr>
          <p:nvPr/>
        </p:nvPicPr>
        <p:blipFill>
          <a:blip r:embed="rId2"/>
          <a:stretch>
            <a:fillRect/>
          </a:stretch>
        </p:blipFill>
        <p:spPr>
          <a:xfrm>
            <a:off x="171427" y="1145239"/>
            <a:ext cx="10879238" cy="5031448"/>
          </a:xfrm>
          <a:prstGeom prst="rect">
            <a:avLst/>
          </a:prstGeom>
        </p:spPr>
      </p:pic>
      <p:sp>
        <p:nvSpPr>
          <p:cNvPr id="9" name="TextBox 8">
            <a:extLst>
              <a:ext uri="{FF2B5EF4-FFF2-40B4-BE49-F238E27FC236}">
                <a16:creationId xmlns:a16="http://schemas.microsoft.com/office/drawing/2014/main" id="{CF8F72AF-B123-5FD8-E565-66CE89F9E82D}"/>
              </a:ext>
            </a:extLst>
          </p:cNvPr>
          <p:cNvSpPr txBox="1"/>
          <p:nvPr/>
        </p:nvSpPr>
        <p:spPr>
          <a:xfrm>
            <a:off x="6353880" y="2778720"/>
            <a:ext cx="2621630" cy="207577"/>
          </a:xfrm>
          <a:prstGeom prst="rect">
            <a:avLst/>
          </a:prstGeom>
          <a:noFill/>
        </p:spPr>
        <p:txBody>
          <a:bodyPr rot="0" spcFirstLastPara="0" vertOverflow="overflow" horzOverflow="overflow" vert="horz" wrap="square" lIns="50800" tIns="25400" rIns="50800" bIns="2540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l"/>
            <a:endParaRPr lang="en-US" sz="778"/>
          </a:p>
        </p:txBody>
      </p:sp>
      <p:sp>
        <p:nvSpPr>
          <p:cNvPr id="11" name="TextBox 10">
            <a:extLst>
              <a:ext uri="{FF2B5EF4-FFF2-40B4-BE49-F238E27FC236}">
                <a16:creationId xmlns:a16="http://schemas.microsoft.com/office/drawing/2014/main" id="{9225F862-9583-7EA1-5D20-C4975946BC84}"/>
              </a:ext>
            </a:extLst>
          </p:cNvPr>
          <p:cNvSpPr txBox="1"/>
          <p:nvPr/>
        </p:nvSpPr>
        <p:spPr>
          <a:xfrm>
            <a:off x="3997729" y="611718"/>
            <a:ext cx="7732915" cy="420628"/>
          </a:xfrm>
          <a:prstGeom prst="rect">
            <a:avLst/>
          </a:prstGeom>
          <a:noFill/>
        </p:spPr>
        <p:txBody>
          <a:bodyPr rot="0" spcFirstLastPara="0" vertOverflow="overflow" horzOverflow="overflow" vert="horz" wrap="square" lIns="50800" tIns="25400" rIns="50800" bIns="2540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r>
              <a:rPr lang="en-US" sz="2400" b="1" dirty="0">
                <a:solidFill>
                  <a:schemeClr val="tx1"/>
                </a:solidFill>
              </a:rPr>
              <a:t>Market Strength Analysis Across Crop Varieties</a:t>
            </a:r>
          </a:p>
        </p:txBody>
      </p:sp>
      <p:sp>
        <p:nvSpPr>
          <p:cNvPr id="8" name="Rectangle: Rounded Corners 7">
            <a:extLst>
              <a:ext uri="{FF2B5EF4-FFF2-40B4-BE49-F238E27FC236}">
                <a16:creationId xmlns:a16="http://schemas.microsoft.com/office/drawing/2014/main" id="{3DB53084-52FF-74F3-6A98-5936579DCA29}"/>
              </a:ext>
            </a:extLst>
          </p:cNvPr>
          <p:cNvSpPr/>
          <p:nvPr/>
        </p:nvSpPr>
        <p:spPr>
          <a:xfrm>
            <a:off x="171427" y="6350164"/>
            <a:ext cx="13220700" cy="1715443"/>
          </a:xfrm>
          <a:prstGeom prst="roundRect">
            <a:avLst/>
          </a:prstGeom>
          <a:no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marL="285750" indent="-285750">
              <a:buFont typeface="Wingdings"/>
              <a:buChar char="Ø"/>
            </a:pPr>
            <a:endParaRPr lang="en-US" sz="2400" dirty="0">
              <a:ea typeface="+mn-lt"/>
              <a:cs typeface="+mn-lt"/>
            </a:endParaRPr>
          </a:p>
          <a:p>
            <a:pPr marL="285750" indent="-285750">
              <a:buFont typeface="Wingdings"/>
              <a:buChar char="Ø"/>
            </a:pPr>
            <a:r>
              <a:rPr lang="en-US" sz="2400" dirty="0">
                <a:ea typeface="+mn-lt"/>
                <a:cs typeface="+mn-lt"/>
              </a:rPr>
              <a:t>Nasik, Kalyan, </a:t>
            </a:r>
            <a:r>
              <a:rPr lang="en-US" sz="2400" dirty="0" err="1">
                <a:ea typeface="+mn-lt"/>
                <a:cs typeface="+mn-lt"/>
              </a:rPr>
              <a:t>Manchar</a:t>
            </a:r>
            <a:r>
              <a:rPr lang="en-US" sz="2400" dirty="0">
                <a:ea typeface="+mn-lt"/>
                <a:cs typeface="+mn-lt"/>
              </a:rPr>
              <a:t>, </a:t>
            </a:r>
            <a:r>
              <a:rPr lang="en-US" sz="2400" dirty="0" err="1">
                <a:ea typeface="+mn-lt"/>
                <a:cs typeface="+mn-lt"/>
              </a:rPr>
              <a:t>Sambhajinagar</a:t>
            </a:r>
            <a:r>
              <a:rPr lang="en-US" sz="2400" dirty="0">
                <a:ea typeface="+mn-lt"/>
                <a:cs typeface="+mn-lt"/>
              </a:rPr>
              <a:t> are major hubs with Maximum crop presence.</a:t>
            </a:r>
            <a:endParaRPr lang="en-US" sz="2400" dirty="0">
              <a:ea typeface="Calibri" panose="020F0502020204030204"/>
              <a:cs typeface="Calibri" panose="020F0502020204030204"/>
            </a:endParaRPr>
          </a:p>
          <a:p>
            <a:pPr marL="285750" indent="-285750">
              <a:buFont typeface="Wingdings"/>
              <a:buChar char="Ø"/>
            </a:pPr>
            <a:r>
              <a:rPr lang="en-US" sz="2400" dirty="0">
                <a:ea typeface="+mn-lt"/>
                <a:cs typeface="+mn-lt"/>
              </a:rPr>
              <a:t>Kolhapur, </a:t>
            </a:r>
            <a:r>
              <a:rPr lang="en-US" sz="2400" dirty="0" err="1">
                <a:ea typeface="+mn-lt"/>
                <a:cs typeface="+mn-lt"/>
              </a:rPr>
              <a:t>Rahuri</a:t>
            </a:r>
            <a:r>
              <a:rPr lang="en-US" sz="2400" dirty="0">
                <a:ea typeface="+mn-lt"/>
                <a:cs typeface="+mn-lt"/>
              </a:rPr>
              <a:t>, </a:t>
            </a:r>
            <a:r>
              <a:rPr lang="en-US" sz="2400" dirty="0" err="1">
                <a:ea typeface="+mn-lt"/>
                <a:cs typeface="+mn-lt"/>
              </a:rPr>
              <a:t>Lasalgaon</a:t>
            </a:r>
            <a:r>
              <a:rPr lang="en-US" sz="2400" dirty="0">
                <a:ea typeface="+mn-lt"/>
                <a:cs typeface="+mn-lt"/>
              </a:rPr>
              <a:t>, Paithan are specialized markets.</a:t>
            </a:r>
            <a:endParaRPr lang="en-US" sz="2400" dirty="0">
              <a:ea typeface="Calibri" panose="020F0502020204030204"/>
              <a:cs typeface="Calibri" panose="020F0502020204030204"/>
            </a:endParaRPr>
          </a:p>
          <a:p>
            <a:pPr marL="285750" indent="-285750">
              <a:buFont typeface="Wingdings"/>
              <a:buChar char="Ø"/>
            </a:pPr>
            <a:r>
              <a:rPr lang="en-US" sz="2400" dirty="0">
                <a:ea typeface="+mn-lt"/>
                <a:cs typeface="+mn-lt"/>
              </a:rPr>
              <a:t>Cabbage, Beans, Tomato, Onion are the most prominent varieties across markets.</a:t>
            </a:r>
            <a:endParaRPr lang="en-US" sz="2400" dirty="0">
              <a:ea typeface="Calibri" panose="020F0502020204030204"/>
              <a:cs typeface="Calibri" panose="020F0502020204030204"/>
            </a:endParaRPr>
          </a:p>
          <a:p>
            <a:pPr marL="285750" indent="-285750">
              <a:buFont typeface="Wingdings"/>
              <a:buChar char="Ø"/>
            </a:pPr>
            <a:r>
              <a:rPr lang="en-US" sz="2400" b="1" dirty="0">
                <a:ea typeface="+mn-lt"/>
                <a:cs typeface="+mn-lt"/>
              </a:rPr>
              <a:t>Garlic, </a:t>
            </a:r>
            <a:r>
              <a:rPr lang="en-US" sz="2400" b="1" dirty="0" err="1">
                <a:ea typeface="+mn-lt"/>
                <a:cs typeface="+mn-lt"/>
              </a:rPr>
              <a:t>carrort</a:t>
            </a:r>
            <a:r>
              <a:rPr lang="en-US" sz="2400" b="1" dirty="0">
                <a:ea typeface="+mn-lt"/>
                <a:cs typeface="+mn-lt"/>
              </a:rPr>
              <a:t> &amp; </a:t>
            </a:r>
            <a:r>
              <a:rPr lang="en-US" sz="2400" b="1" dirty="0" err="1">
                <a:ea typeface="+mn-lt"/>
                <a:cs typeface="+mn-lt"/>
              </a:rPr>
              <a:t>Capsiappears</a:t>
            </a:r>
            <a:r>
              <a:rPr lang="en-US" sz="2400" b="1" dirty="0">
                <a:ea typeface="+mn-lt"/>
                <a:cs typeface="+mn-lt"/>
              </a:rPr>
              <a:t> in only a few markets (not widely distributed).</a:t>
            </a:r>
            <a:endParaRPr lang="en-US" sz="2400" b="1" dirty="0">
              <a:ea typeface="Calibri" panose="020F0502020204030204"/>
              <a:cs typeface="Calibri" panose="020F0502020204030204"/>
            </a:endParaRPr>
          </a:p>
          <a:p>
            <a:endParaRPr lang="en-US" dirty="0">
              <a:ea typeface="Calibri"/>
              <a:cs typeface="Calibri"/>
            </a:endParaRPr>
          </a:p>
        </p:txBody>
      </p:sp>
    </p:spTree>
    <p:extLst>
      <p:ext uri="{BB962C8B-B14F-4D97-AF65-F5344CB8AC3E}">
        <p14:creationId xmlns:p14="http://schemas.microsoft.com/office/powerpoint/2010/main" val="18648145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fQOUYTLI5VQgAAAAASUVORK5CYII= (1018×550)">
            <a:extLst>
              <a:ext uri="{FF2B5EF4-FFF2-40B4-BE49-F238E27FC236}">
                <a16:creationId xmlns:a16="http://schemas.microsoft.com/office/drawing/2014/main" id="{2A2DF036-72F0-130D-FE13-66373A36EAB3}"/>
              </a:ext>
            </a:extLst>
          </p:cNvPr>
          <p:cNvPicPr>
            <a:picLocks noChangeAspect="1"/>
          </p:cNvPicPr>
          <p:nvPr/>
        </p:nvPicPr>
        <p:blipFill>
          <a:blip r:embed="rId2"/>
          <a:stretch>
            <a:fillRect/>
          </a:stretch>
        </p:blipFill>
        <p:spPr>
          <a:xfrm>
            <a:off x="927100" y="4572840"/>
            <a:ext cx="6642971" cy="3500798"/>
          </a:xfrm>
          <a:prstGeom prst="rect">
            <a:avLst/>
          </a:prstGeom>
        </p:spPr>
      </p:pic>
      <p:pic>
        <p:nvPicPr>
          <p:cNvPr id="3" name="Picture 2" descr="xleXl5v+3AYY4yxPxR+NIAxxhhjjDHGGFMjPFkgY4wxxhhjjDGmRrgjgDHGGGOMMcYYUyPcEcAYY4wxxhhjjKkR7ghgjDHGGGOMMcbUCHcEMMYYY4wxxhhjaoQ7AhhjjDHGGGOMMTXCHQGMMcYYY4wxxpga4Y4AxhhjjDHGGGNMjXBHAGOMMcYYY4wxpkb+DxDbzdz4Tm9lAAAAAElFTkSuQmCC (1026×550)">
            <a:extLst>
              <a:ext uri="{FF2B5EF4-FFF2-40B4-BE49-F238E27FC236}">
                <a16:creationId xmlns:a16="http://schemas.microsoft.com/office/drawing/2014/main" id="{90DF8E0B-7A35-4CF6-7285-D0FBF3FEFC81}"/>
              </a:ext>
            </a:extLst>
          </p:cNvPr>
          <p:cNvPicPr>
            <a:picLocks noChangeAspect="1"/>
          </p:cNvPicPr>
          <p:nvPr/>
        </p:nvPicPr>
        <p:blipFill>
          <a:blip r:embed="rId3"/>
          <a:stretch>
            <a:fillRect/>
          </a:stretch>
        </p:blipFill>
        <p:spPr>
          <a:xfrm>
            <a:off x="927100" y="760638"/>
            <a:ext cx="6642971" cy="3500798"/>
          </a:xfrm>
          <a:prstGeom prst="rect">
            <a:avLst/>
          </a:prstGeom>
        </p:spPr>
      </p:pic>
      <p:sp>
        <p:nvSpPr>
          <p:cNvPr id="6" name="Flowchart: Alternative Process 5">
            <a:extLst>
              <a:ext uri="{FF2B5EF4-FFF2-40B4-BE49-F238E27FC236}">
                <a16:creationId xmlns:a16="http://schemas.microsoft.com/office/drawing/2014/main" id="{4E1F6819-A23C-986F-EBFB-1F999FD7D9F7}"/>
              </a:ext>
            </a:extLst>
          </p:cNvPr>
          <p:cNvSpPr/>
          <p:nvPr/>
        </p:nvSpPr>
        <p:spPr>
          <a:xfrm>
            <a:off x="8585200" y="4572840"/>
            <a:ext cx="6032500" cy="3500798"/>
          </a:xfrm>
          <a:prstGeom prst="flowChartAlternateProcess">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sz="2400" dirty="0"/>
              <a:t>Again Garlic has the highest average price, far above all other crops.</a:t>
            </a:r>
          </a:p>
          <a:p>
            <a:pPr marL="285750" indent="-285750">
              <a:buFont typeface="Wingdings" panose="05000000000000000000" pitchFamily="2" charset="2"/>
              <a:buChar char="Ø"/>
            </a:pPr>
            <a:r>
              <a:rPr lang="en-US" sz="2400" dirty="0"/>
              <a:t>Beans also fetch good prices, while Brinjal and Carrot are mid-range.</a:t>
            </a:r>
          </a:p>
          <a:p>
            <a:pPr marL="285750" indent="-285750">
              <a:buFont typeface="Wingdings" panose="05000000000000000000" pitchFamily="2" charset="2"/>
              <a:buChar char="Ø"/>
            </a:pPr>
            <a:r>
              <a:rPr lang="en-US" sz="2400" dirty="0"/>
              <a:t>Onion, Potato, Cabbage, Tomato, and Capsicum are the lowest-priced varieties.</a:t>
            </a:r>
          </a:p>
        </p:txBody>
      </p:sp>
      <p:sp>
        <p:nvSpPr>
          <p:cNvPr id="8" name="Flowchart: Alternative Process 7">
            <a:extLst>
              <a:ext uri="{FF2B5EF4-FFF2-40B4-BE49-F238E27FC236}">
                <a16:creationId xmlns:a16="http://schemas.microsoft.com/office/drawing/2014/main" id="{B86A65DC-E711-A45C-DC51-008BB3B8B50E}"/>
              </a:ext>
            </a:extLst>
          </p:cNvPr>
          <p:cNvSpPr/>
          <p:nvPr/>
        </p:nvSpPr>
        <p:spPr>
          <a:xfrm>
            <a:off x="8585200" y="809237"/>
            <a:ext cx="6032500" cy="3403600"/>
          </a:xfrm>
          <a:prstGeom prst="flowChartAlternateProcess">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Ø"/>
            </a:pPr>
            <a:r>
              <a:rPr lang="en-US" sz="2400" dirty="0"/>
              <a:t>Garlic is the most expensive variety by a significant margin.</a:t>
            </a:r>
          </a:p>
          <a:p>
            <a:pPr marL="342900" indent="-342900">
              <a:buFont typeface="Wingdings" panose="05000000000000000000" pitchFamily="2" charset="2"/>
              <a:buChar char="Ø"/>
            </a:pPr>
            <a:r>
              <a:rPr lang="en-US" sz="2400" b="1" dirty="0"/>
              <a:t>High-priced:</a:t>
            </a:r>
            <a:r>
              <a:rPr lang="en-US" sz="2400" dirty="0"/>
              <a:t> Garlic and Beans (Rs. 28,000 and Rs. 20,000).</a:t>
            </a:r>
          </a:p>
          <a:p>
            <a:pPr marL="342900" indent="-342900">
              <a:buFont typeface="Wingdings" panose="05000000000000000000" pitchFamily="2" charset="2"/>
              <a:buChar char="Ø"/>
            </a:pPr>
            <a:r>
              <a:rPr lang="en-US" sz="2400" b="1" dirty="0"/>
              <a:t>Mid-priced:</a:t>
            </a:r>
            <a:r>
              <a:rPr lang="en-US" sz="2400" dirty="0"/>
              <a:t> Brinjal, Cabbage, and Tomato (Rs. 10,000 to Rs. 5,825).</a:t>
            </a:r>
          </a:p>
          <a:p>
            <a:pPr marL="342900" indent="-342900">
              <a:buFont typeface="Wingdings" panose="05000000000000000000" pitchFamily="2" charset="2"/>
              <a:buChar char="Ø"/>
            </a:pPr>
            <a:r>
              <a:rPr lang="en-US" sz="2400" b="1" dirty="0"/>
              <a:t>Low-priced:</a:t>
            </a:r>
            <a:r>
              <a:rPr lang="en-US" sz="2400" dirty="0"/>
              <a:t> Potato, Onion, Carrot, and Capsicum (Rs. 4,000 to Rs. 2,200).</a:t>
            </a:r>
            <a:endParaRPr lang="en-IN" sz="2400" dirty="0"/>
          </a:p>
        </p:txBody>
      </p:sp>
      <p:sp>
        <p:nvSpPr>
          <p:cNvPr id="12" name="TextBox 11">
            <a:extLst>
              <a:ext uri="{FF2B5EF4-FFF2-40B4-BE49-F238E27FC236}">
                <a16:creationId xmlns:a16="http://schemas.microsoft.com/office/drawing/2014/main" id="{04509B18-7489-BD25-A79A-84957CDA7F49}"/>
              </a:ext>
            </a:extLst>
          </p:cNvPr>
          <p:cNvSpPr txBox="1"/>
          <p:nvPr/>
        </p:nvSpPr>
        <p:spPr>
          <a:xfrm>
            <a:off x="3340100" y="139700"/>
            <a:ext cx="8153400" cy="461665"/>
          </a:xfrm>
          <a:prstGeom prst="rect">
            <a:avLst/>
          </a:prstGeom>
          <a:noFill/>
          <a:ln>
            <a:solidFill>
              <a:srgbClr val="FFFFFF"/>
            </a:solidFill>
          </a:ln>
        </p:spPr>
        <p:txBody>
          <a:bodyPr wrap="square" rtlCol="0">
            <a:spAutoFit/>
          </a:bodyPr>
          <a:lstStyle/>
          <a:p>
            <a:pPr algn="ctr"/>
            <a:r>
              <a:rPr lang="en-IN" sz="2400" b="1" dirty="0">
                <a:latin typeface="Arial" panose="020B0604020202020204" pitchFamily="34" charset="0"/>
                <a:cs typeface="Arial" panose="020B0604020202020204" pitchFamily="34" charset="0"/>
              </a:rPr>
              <a:t>Highest &amp; Average Price For Each Variety</a:t>
            </a:r>
          </a:p>
        </p:txBody>
      </p:sp>
    </p:spTree>
    <p:extLst>
      <p:ext uri="{BB962C8B-B14F-4D97-AF65-F5344CB8AC3E}">
        <p14:creationId xmlns:p14="http://schemas.microsoft.com/office/powerpoint/2010/main" val="3710446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A9FF488-0A15-CC52-8AB3-2FE1A74932AB}"/>
              </a:ext>
            </a:extLst>
          </p:cNvPr>
          <p:cNvSpPr>
            <a:spLocks noGrp="1"/>
          </p:cNvSpPr>
          <p:nvPr>
            <p:ph type="ftr" sz="quarter" idx="11"/>
          </p:nvPr>
        </p:nvSpPr>
        <p:spPr>
          <a:xfrm>
            <a:off x="1414592" y="153914"/>
            <a:ext cx="7719393" cy="496554"/>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r>
              <a:rPr lang="en-US" sz="2400" b="1" dirty="0">
                <a:solidFill>
                  <a:schemeClr val="tx1"/>
                </a:solidFill>
                <a:latin typeface="Aptos"/>
              </a:rPr>
              <a:t>Tomato Price Trend Over Time (per Quintal Vs 20kg)</a:t>
            </a:r>
          </a:p>
          <a:p>
            <a:endParaRPr lang="en-US" sz="556" dirty="0">
              <a:latin typeface="Aptos"/>
            </a:endParaRPr>
          </a:p>
        </p:txBody>
      </p:sp>
      <p:pic>
        <p:nvPicPr>
          <p:cNvPr id="7" name="Picture 6" descr="vyLugAAAABJRU5ErkJggg== (1384×584)">
            <a:extLst>
              <a:ext uri="{FF2B5EF4-FFF2-40B4-BE49-F238E27FC236}">
                <a16:creationId xmlns:a16="http://schemas.microsoft.com/office/drawing/2014/main" id="{D466B288-883A-7A96-F431-61535A03B04F}"/>
              </a:ext>
            </a:extLst>
          </p:cNvPr>
          <p:cNvPicPr>
            <a:picLocks noChangeAspect="1"/>
          </p:cNvPicPr>
          <p:nvPr/>
        </p:nvPicPr>
        <p:blipFill>
          <a:blip r:embed="rId2"/>
          <a:stretch>
            <a:fillRect/>
          </a:stretch>
        </p:blipFill>
        <p:spPr>
          <a:xfrm>
            <a:off x="374650" y="914400"/>
            <a:ext cx="9467069" cy="5210819"/>
          </a:xfrm>
          <a:prstGeom prst="rect">
            <a:avLst/>
          </a:prstGeom>
        </p:spPr>
      </p:pic>
      <p:sp>
        <p:nvSpPr>
          <p:cNvPr id="5" name="Flowchart: Alternative Process 4">
            <a:extLst>
              <a:ext uri="{FF2B5EF4-FFF2-40B4-BE49-F238E27FC236}">
                <a16:creationId xmlns:a16="http://schemas.microsoft.com/office/drawing/2014/main" id="{B6859886-79F4-0AE2-F11F-09F0C42A207A}"/>
              </a:ext>
            </a:extLst>
          </p:cNvPr>
          <p:cNvSpPr/>
          <p:nvPr/>
        </p:nvSpPr>
        <p:spPr>
          <a:xfrm>
            <a:off x="374650" y="6389150"/>
            <a:ext cx="14624050" cy="1631295"/>
          </a:xfrm>
          <a:prstGeom prst="flowChartAlternateProcess">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sz="2000" dirty="0"/>
              <a:t>Currently Tomato is Trending for the farmers, </a:t>
            </a:r>
            <a:r>
              <a:rPr lang="en-US" sz="2000"/>
              <a:t>in our da</a:t>
            </a:r>
          </a:p>
          <a:p>
            <a:pPr marL="285750" indent="-285750">
              <a:buFont typeface="Wingdings" panose="05000000000000000000" pitchFamily="2" charset="2"/>
              <a:buChar char="Ø"/>
            </a:pPr>
            <a:r>
              <a:rPr lang="en-US" sz="2000" dirty="0"/>
              <a:t>By converting into 20kg crate prices (practical unit used by farmers), we clearly see the day-to-day earning potential per crate.</a:t>
            </a:r>
          </a:p>
          <a:p>
            <a:pPr marL="285750" indent="-285750">
              <a:buFont typeface="Wingdings" panose="05000000000000000000" pitchFamily="2" charset="2"/>
              <a:buChar char="Ø"/>
            </a:pPr>
            <a:r>
              <a:rPr lang="en-US" sz="2000" dirty="0"/>
              <a:t>Prices generally stayed between ₹200–₹600 per crate, with occasional spikes above ₹1000 (profitable windows).</a:t>
            </a:r>
          </a:p>
          <a:p>
            <a:pPr marL="285750" indent="-285750">
              <a:buFont typeface="Wingdings" panose="05000000000000000000" pitchFamily="2" charset="2"/>
              <a:buChar char="Ø"/>
            </a:pPr>
            <a:r>
              <a:rPr lang="en-US" sz="2000" dirty="0"/>
              <a:t>These spikes usually align with seasonal demand and supply shortages, meaning farmers who monitor trends can time their sales better.</a:t>
            </a:r>
          </a:p>
        </p:txBody>
      </p:sp>
      <p:sp>
        <p:nvSpPr>
          <p:cNvPr id="6" name="AutoShape 4" descr="1,687,400+ Fresh Tomatoes Stock Photos, Pictures &amp; Royalty-Free Images -  iStock | Picking fresh tomatoes, Pasta with fresh tomatoes, Fresh tomatoes  on white">
            <a:extLst>
              <a:ext uri="{FF2B5EF4-FFF2-40B4-BE49-F238E27FC236}">
                <a16:creationId xmlns:a16="http://schemas.microsoft.com/office/drawing/2014/main" id="{2FF9B37E-223A-8237-8A59-266B3848A2C7}"/>
              </a:ext>
            </a:extLst>
          </p:cNvPr>
          <p:cNvSpPr>
            <a:spLocks noChangeAspect="1" noChangeArrowheads="1"/>
          </p:cNvSpPr>
          <p:nvPr/>
        </p:nvSpPr>
        <p:spPr bwMode="auto">
          <a:xfrm>
            <a:off x="11912476" y="2533526"/>
            <a:ext cx="235074" cy="235074"/>
          </a:xfrm>
          <a:prstGeom prst="rect">
            <a:avLst/>
          </a:prstGeom>
          <a:noFill/>
          <a:effectLst>
            <a:outerShdw blurRad="76200" dist="12700" dir="2700000" sy="-23000" kx="-800400" algn="bl" rotWithShape="0">
              <a:prstClr val="black">
                <a:alpha val="20000"/>
              </a:prstClr>
            </a:outerShdw>
            <a:reflection blurRad="6350" stA="50000" endA="300" endPos="55000" dir="5400000" sy="-100000" algn="bl" rotWithShape="0"/>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6" name="Picture 6" descr="1,687,400+ Fresh Tomatoes Stock Photos, Pictures &amp; Royalty-Free Images -  iStock | Picking fresh tomatoes, Pasta with fresh tomatoes, Fresh tomatoes  on white">
            <a:extLst>
              <a:ext uri="{FF2B5EF4-FFF2-40B4-BE49-F238E27FC236}">
                <a16:creationId xmlns:a16="http://schemas.microsoft.com/office/drawing/2014/main" id="{771B245F-4B1B-EF16-FA0B-0FA3B1F0D8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2900" y="1562100"/>
            <a:ext cx="4495800" cy="2997200"/>
          </a:xfrm>
          <a:prstGeom prst="rect">
            <a:avLst/>
          </a:prstGeom>
          <a:ln>
            <a:noFill/>
          </a:ln>
          <a:effectLst>
            <a:reflection blurRad="6350" stA="50000" endA="300" endPos="55000" dir="5400000" sy="-100000" algn="bl" rotWithShape="0"/>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5745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5126"/>
                                        </p:tgtEl>
                                        <p:attrNameLst>
                                          <p:attrName>style.visibility</p:attrName>
                                        </p:attrNameLst>
                                      </p:cBhvr>
                                      <p:to>
                                        <p:strVal val="visible"/>
                                      </p:to>
                                    </p:set>
                                    <p:anim calcmode="lin" valueType="num">
                                      <p:cBhvr>
                                        <p:cTn id="12" dur="500" fill="hold"/>
                                        <p:tgtEl>
                                          <p:spTgt spid="5126"/>
                                        </p:tgtEl>
                                        <p:attrNameLst>
                                          <p:attrName>ppt_w</p:attrName>
                                        </p:attrNameLst>
                                      </p:cBhvr>
                                      <p:tavLst>
                                        <p:tav tm="0">
                                          <p:val>
                                            <p:fltVal val="0"/>
                                          </p:val>
                                        </p:tav>
                                        <p:tav tm="100000">
                                          <p:val>
                                            <p:strVal val="#ppt_w"/>
                                          </p:val>
                                        </p:tav>
                                      </p:tavLst>
                                    </p:anim>
                                    <p:anim calcmode="lin" valueType="num">
                                      <p:cBhvr>
                                        <p:cTn id="13" dur="500" fill="hold"/>
                                        <p:tgtEl>
                                          <p:spTgt spid="5126"/>
                                        </p:tgtEl>
                                        <p:attrNameLst>
                                          <p:attrName>ppt_h</p:attrName>
                                        </p:attrNameLst>
                                      </p:cBhvr>
                                      <p:tavLst>
                                        <p:tav tm="0">
                                          <p:val>
                                            <p:fltVal val="0"/>
                                          </p:val>
                                        </p:tav>
                                        <p:tav tm="100000">
                                          <p:val>
                                            <p:strVal val="#ppt_h"/>
                                          </p:val>
                                        </p:tav>
                                      </p:tavLst>
                                    </p:anim>
                                    <p:animEffect transition="in" filter="fade">
                                      <p:cBhvr>
                                        <p:cTn id="14" dur="5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B01B6F-728D-FAFA-5D3E-C9647FC67DF8}"/>
              </a:ext>
            </a:extLst>
          </p:cNvPr>
          <p:cNvSpPr>
            <a:spLocks noGrp="1"/>
          </p:cNvSpPr>
          <p:nvPr>
            <p:ph type="ftr" sz="quarter" idx="11"/>
          </p:nvPr>
        </p:nvSpPr>
        <p:spPr>
          <a:xfrm>
            <a:off x="1954094" y="460223"/>
            <a:ext cx="5935566" cy="637691"/>
          </a:xfrm>
          <a:ln>
            <a:solidFill>
              <a:srgbClr val="FFFFFF"/>
            </a:solid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r>
              <a:rPr lang="en-US" sz="2400" b="1" dirty="0">
                <a:solidFill>
                  <a:schemeClr val="tx1"/>
                </a:solidFill>
              </a:rPr>
              <a:t>Variety vs Min/Max Price For All </a:t>
            </a:r>
            <a:r>
              <a:rPr lang="en-US" sz="2400" b="1" dirty="0" err="1">
                <a:solidFill>
                  <a:schemeClr val="tx1"/>
                </a:solidFill>
              </a:rPr>
              <a:t>Varietis</a:t>
            </a:r>
            <a:endParaRPr lang="en-US" sz="2400" b="1" dirty="0">
              <a:solidFill>
                <a:schemeClr val="tx1"/>
              </a:solidFill>
            </a:endParaRPr>
          </a:p>
          <a:p>
            <a:endParaRPr lang="en-US" sz="889" b="1" dirty="0">
              <a:solidFill>
                <a:schemeClr val="tx1"/>
              </a:solidFill>
            </a:endParaRPr>
          </a:p>
        </p:txBody>
      </p:sp>
      <p:pic>
        <p:nvPicPr>
          <p:cNvPr id="6" name="Picture 5" descr="B7ndJj4mTDdQAAAAAElFTkSuQmCC (1181×529)">
            <a:extLst>
              <a:ext uri="{FF2B5EF4-FFF2-40B4-BE49-F238E27FC236}">
                <a16:creationId xmlns:a16="http://schemas.microsoft.com/office/drawing/2014/main" id="{3196080E-E39C-5426-19EF-1B91DDF536E7}"/>
              </a:ext>
            </a:extLst>
          </p:cNvPr>
          <p:cNvPicPr>
            <a:picLocks noChangeAspect="1"/>
          </p:cNvPicPr>
          <p:nvPr/>
        </p:nvPicPr>
        <p:blipFill>
          <a:blip r:embed="rId2"/>
          <a:stretch>
            <a:fillRect/>
          </a:stretch>
        </p:blipFill>
        <p:spPr>
          <a:xfrm>
            <a:off x="200348" y="1873832"/>
            <a:ext cx="9743752" cy="5424299"/>
          </a:xfrm>
          <a:prstGeom prst="rect">
            <a:avLst/>
          </a:prstGeom>
        </p:spPr>
      </p:pic>
      <p:sp>
        <p:nvSpPr>
          <p:cNvPr id="7" name="Flowchart: Alternative Process 6">
            <a:extLst>
              <a:ext uri="{FF2B5EF4-FFF2-40B4-BE49-F238E27FC236}">
                <a16:creationId xmlns:a16="http://schemas.microsoft.com/office/drawing/2014/main" id="{4CD94F1A-0F3E-5082-0466-B7059C4EE138}"/>
              </a:ext>
            </a:extLst>
          </p:cNvPr>
          <p:cNvSpPr/>
          <p:nvPr/>
        </p:nvSpPr>
        <p:spPr>
          <a:xfrm>
            <a:off x="10274300" y="1873832"/>
            <a:ext cx="4838700" cy="5424299"/>
          </a:xfrm>
          <a:prstGeom prst="flowChartAlternateProcess">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Ø"/>
            </a:pPr>
            <a:r>
              <a:rPr lang="en-US" sz="2400" dirty="0"/>
              <a:t>Look, even though the price of garlic is high, farmers do not plant more garlic because the same is produced in less quantity, so people plant more other vegetables. which keeps the supply low and prices high</a:t>
            </a:r>
          </a:p>
          <a:p>
            <a:pPr marL="342900" indent="-342900">
              <a:buFont typeface="Wingdings" panose="05000000000000000000" pitchFamily="2" charset="2"/>
              <a:buChar char="Ø"/>
            </a:pPr>
            <a:r>
              <a:rPr lang="en-US" sz="2400" dirty="0"/>
              <a:t>On the other hand, crops like cabbage, carrot, and capsicum have lower prices, but they are grown in large quantities, so farmers still prefer them for steady income.</a:t>
            </a:r>
          </a:p>
          <a:p>
            <a:pPr marL="342900" lvl="0" indent="-342900" defTabSz="914400" eaLnBrk="0" fontAlgn="base" hangingPunct="0">
              <a:spcBef>
                <a:spcPct val="0"/>
              </a:spcBef>
              <a:spcAft>
                <a:spcPct val="0"/>
              </a:spcAft>
              <a:buFont typeface="Wingdings" panose="05000000000000000000" pitchFamily="2" charset="2"/>
              <a:buChar char="Ø"/>
            </a:pPr>
            <a:endParaRPr lang="en-IN" sz="2400" dirty="0"/>
          </a:p>
        </p:txBody>
      </p:sp>
    </p:spTree>
    <p:extLst>
      <p:ext uri="{BB962C8B-B14F-4D97-AF65-F5344CB8AC3E}">
        <p14:creationId xmlns:p14="http://schemas.microsoft.com/office/powerpoint/2010/main" val="42905815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7591B16-2888-7A6A-1FCB-3F0281D0B7D6}"/>
              </a:ext>
            </a:extLst>
          </p:cNvPr>
          <p:cNvSpPr>
            <a:spLocks noGrp="1"/>
          </p:cNvSpPr>
          <p:nvPr>
            <p:ph type="ftr" sz="quarter" idx="11"/>
          </p:nvPr>
        </p:nvSpPr>
        <p:spPr>
          <a:xfrm>
            <a:off x="959961" y="886422"/>
            <a:ext cx="5293680" cy="740646"/>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algn="ctr"/>
            <a:r>
              <a:rPr lang="en-US" sz="2400" b="1" dirty="0">
                <a:solidFill>
                  <a:schemeClr val="tx1"/>
                </a:solidFill>
              </a:rPr>
              <a:t>Market-wise Crop Composition</a:t>
            </a:r>
          </a:p>
        </p:txBody>
      </p:sp>
      <p:pic>
        <p:nvPicPr>
          <p:cNvPr id="7" name="Picture 6" descr="UPn2bt3b2JiYti3b59y25gxY8jJyWH9+vUEBwdjaWlJnz59lI50ubm5z7Tsb8GCBaxZs4ZNmzaRkZGBqakpvr6+fPTRR+jo6Pzp5xVCCCGEEGW01Gq1+nkfhBBCCCGEEEIIIYR4NcmyOyGEEEIIIYQQQghRZST4JIQQQgghhBBCCCGqjASfhBBCCCGEEEIIIUSVkeCTEEIIIYQQQgghhKgyEnwSQgghhBBCCCGEEFVGgk9CCCGEEEIIIYQQospI8EkIIYQQQgghhBBCVBkJPgkhhBBCCCGEEEKIKiPBJyGEEEIIIYQQQghRZST4JIQQQgghhBBCCCGqjASfhBBCCCGEEEIIIUSV+X91U0u57yQCugAAAABJRU5ErkJggg== (1183×583)">
            <a:extLst>
              <a:ext uri="{FF2B5EF4-FFF2-40B4-BE49-F238E27FC236}">
                <a16:creationId xmlns:a16="http://schemas.microsoft.com/office/drawing/2014/main" id="{B9CF2EB1-8817-14D3-ED7C-5CAEB12BDFF6}"/>
              </a:ext>
            </a:extLst>
          </p:cNvPr>
          <p:cNvPicPr>
            <a:picLocks noChangeAspect="1"/>
          </p:cNvPicPr>
          <p:nvPr/>
        </p:nvPicPr>
        <p:blipFill>
          <a:blip r:embed="rId3"/>
          <a:stretch>
            <a:fillRect/>
          </a:stretch>
        </p:blipFill>
        <p:spPr>
          <a:xfrm>
            <a:off x="350100" y="1897845"/>
            <a:ext cx="9936900" cy="5716110"/>
          </a:xfrm>
          <a:prstGeom prst="rect">
            <a:avLst/>
          </a:prstGeom>
        </p:spPr>
      </p:pic>
      <p:sp>
        <p:nvSpPr>
          <p:cNvPr id="5" name="Flowchart: Alternative Process 4">
            <a:extLst>
              <a:ext uri="{FF2B5EF4-FFF2-40B4-BE49-F238E27FC236}">
                <a16:creationId xmlns:a16="http://schemas.microsoft.com/office/drawing/2014/main" id="{011298B4-249E-3CFA-83EA-851559F846BB}"/>
              </a:ext>
            </a:extLst>
          </p:cNvPr>
          <p:cNvSpPr/>
          <p:nvPr/>
        </p:nvSpPr>
        <p:spPr>
          <a:xfrm>
            <a:off x="10406541" y="1839890"/>
            <a:ext cx="4998559" cy="5716110"/>
          </a:xfrm>
          <a:prstGeom prst="flowChartAlternateProcess">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Ø"/>
            </a:pPr>
            <a:r>
              <a:rPr lang="en-IN" sz="2400" dirty="0"/>
              <a:t>Nasik is the central hub for almost every crop, making it the most diversified and dominant market.</a:t>
            </a:r>
          </a:p>
          <a:p>
            <a:pPr marL="342900" indent="-342900">
              <a:buFont typeface="Wingdings" panose="05000000000000000000" pitchFamily="2" charset="2"/>
              <a:buChar char="Ø"/>
            </a:pPr>
            <a:r>
              <a:rPr lang="en-IN" sz="2400" dirty="0"/>
              <a:t>Kalyan, </a:t>
            </a:r>
            <a:r>
              <a:rPr lang="en-IN" sz="2400" dirty="0" err="1"/>
              <a:t>Sambhajinagar</a:t>
            </a:r>
            <a:r>
              <a:rPr lang="en-IN" sz="2400" dirty="0"/>
              <a:t>, </a:t>
            </a:r>
            <a:r>
              <a:rPr lang="en-IN" sz="2400" dirty="0" err="1"/>
              <a:t>Manchar</a:t>
            </a:r>
            <a:r>
              <a:rPr lang="en-IN" sz="2400" dirty="0"/>
              <a:t> are also major markets with multi-crop dominance.</a:t>
            </a:r>
          </a:p>
          <a:p>
            <a:pPr marL="342900" indent="-342900">
              <a:buFont typeface="Wingdings" panose="05000000000000000000" pitchFamily="2" charset="2"/>
              <a:buChar char="Ø"/>
            </a:pPr>
            <a:r>
              <a:rPr lang="en-IN" sz="2400" dirty="0"/>
              <a:t>Kolhapur, </a:t>
            </a:r>
            <a:r>
              <a:rPr lang="en-IN" sz="2400" dirty="0" err="1"/>
              <a:t>Rahuri</a:t>
            </a:r>
            <a:r>
              <a:rPr lang="en-IN" sz="2400" dirty="0"/>
              <a:t>, </a:t>
            </a:r>
            <a:r>
              <a:rPr lang="en-IN" sz="2400" dirty="0" err="1"/>
              <a:t>Lasalgaon</a:t>
            </a:r>
            <a:r>
              <a:rPr lang="en-IN" sz="2400" dirty="0"/>
              <a:t> are specialized markets focusing on 1–2 crops only.</a:t>
            </a:r>
          </a:p>
          <a:p>
            <a:pPr marL="342900" indent="-342900">
              <a:buFont typeface="Wingdings" panose="05000000000000000000" pitchFamily="2" charset="2"/>
              <a:buChar char="Ø"/>
            </a:pPr>
            <a:r>
              <a:rPr lang="en-IN" sz="2400" dirty="0"/>
              <a:t>Cabbage, Beans, Tomato, Onion are the top four crops across Maharashtra markets.</a:t>
            </a:r>
          </a:p>
        </p:txBody>
      </p:sp>
      <p:sp>
        <p:nvSpPr>
          <p:cNvPr id="2" name="Flowchart: Alternative Process 1">
            <a:extLst>
              <a:ext uri="{FF2B5EF4-FFF2-40B4-BE49-F238E27FC236}">
                <a16:creationId xmlns:a16="http://schemas.microsoft.com/office/drawing/2014/main" id="{8ABD9C87-DEEA-17C8-0333-9FBF022E46A1}"/>
              </a:ext>
            </a:extLst>
          </p:cNvPr>
          <p:cNvSpPr/>
          <p:nvPr/>
        </p:nvSpPr>
        <p:spPr>
          <a:xfrm>
            <a:off x="5803900" y="220211"/>
            <a:ext cx="3937000" cy="433534"/>
          </a:xfrm>
          <a:prstGeom prst="flowChartAlternateProcess">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Multivariate Analysis</a:t>
            </a:r>
          </a:p>
        </p:txBody>
      </p:sp>
    </p:spTree>
    <p:extLst>
      <p:ext uri="{BB962C8B-B14F-4D97-AF65-F5344CB8AC3E}">
        <p14:creationId xmlns:p14="http://schemas.microsoft.com/office/powerpoint/2010/main" val="10013375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5687F8-0EAA-10A2-4FA5-625CBA597489}"/>
              </a:ext>
            </a:extLst>
          </p:cNvPr>
          <p:cNvSpPr>
            <a:spLocks noGrp="1"/>
          </p:cNvSpPr>
          <p:nvPr>
            <p:ph type="ftr" sz="quarter" idx="11"/>
          </p:nvPr>
        </p:nvSpPr>
        <p:spPr>
          <a:xfrm>
            <a:off x="3897288" y="169743"/>
            <a:ext cx="7411459" cy="649533"/>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marL="189865" indent="-189865" algn="ctr">
              <a:buChar char="•"/>
            </a:pPr>
            <a:r>
              <a:rPr lang="en-US" sz="2400" b="1">
                <a:solidFill>
                  <a:schemeClr val="tx1"/>
                </a:solidFill>
              </a:rPr>
              <a:t>District wise Average Price for all Commodities</a:t>
            </a:r>
          </a:p>
          <a:p>
            <a:pPr marL="189865" indent="-189865" algn="ctr">
              <a:buChar char="•"/>
            </a:pPr>
            <a:endParaRPr lang="en-US" sz="1555">
              <a:solidFill>
                <a:schemeClr val="tx1"/>
              </a:solidFill>
              <a:highlight>
                <a:srgbClr val="808000"/>
              </a:highlight>
            </a:endParaRPr>
          </a:p>
        </p:txBody>
      </p:sp>
      <p:pic>
        <p:nvPicPr>
          <p:cNvPr id="6" name="Picture 5" descr="bttWbNGg0fPlzdu3fXmDFj8r0PAAAAgNLGYhiGYXYQAAAAAAAAAFAaMXEYAAAAAAAAAJiEBC0AAAAAAAAAmIQELQAAAAAAAACYhAQtAAAAAAAAAJiEBC0AAAAAAAAAmIQELQAAAAAAAACYhAQtAAAAAAAAAJiEBC0AAAAAAAAAmIQELQAAAAAAAACYhAQtAAAAAAAAAJiEBC0AAAAAAAAAmIQELQAAAAAAAACY5P8BtvEMX0lPr7AAAAAASUVORK5CYII= (1384×684)">
            <a:extLst>
              <a:ext uri="{FF2B5EF4-FFF2-40B4-BE49-F238E27FC236}">
                <a16:creationId xmlns:a16="http://schemas.microsoft.com/office/drawing/2014/main" id="{A742AF4B-AE9C-1ACA-6E44-F59434B991E7}"/>
              </a:ext>
            </a:extLst>
          </p:cNvPr>
          <p:cNvPicPr>
            <a:picLocks noChangeAspect="1"/>
          </p:cNvPicPr>
          <p:nvPr/>
        </p:nvPicPr>
        <p:blipFill>
          <a:blip r:embed="rId2"/>
          <a:stretch>
            <a:fillRect/>
          </a:stretch>
        </p:blipFill>
        <p:spPr>
          <a:xfrm>
            <a:off x="350099" y="1003300"/>
            <a:ext cx="9225656" cy="4165600"/>
          </a:xfrm>
          <a:prstGeom prst="rect">
            <a:avLst/>
          </a:prstGeom>
        </p:spPr>
      </p:pic>
      <p:pic>
        <p:nvPicPr>
          <p:cNvPr id="5" name="Picture 2" descr="Garlic Plant Images – Browse 367,318 Stock Photos, Vectors, and Video |  Adobe Stock">
            <a:extLst>
              <a:ext uri="{FF2B5EF4-FFF2-40B4-BE49-F238E27FC236}">
                <a16:creationId xmlns:a16="http://schemas.microsoft.com/office/drawing/2014/main" id="{A49E07F8-9B3F-6B3E-E459-CC6917C87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5201" y="1289176"/>
            <a:ext cx="5143500" cy="3429000"/>
          </a:xfrm>
          <a:prstGeom prst="rect">
            <a:avLst/>
          </a:prstGeom>
          <a:noFill/>
          <a:effectLst>
            <a:reflection blurRad="6350" stA="52000" endA="300" endPos="35000" dir="5400000" sy="-100000" algn="bl" rotWithShape="0"/>
            <a:softEdge rad="63500"/>
          </a:effectLst>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2AE4CDBD-9EC3-A5B6-BF25-3C6E5F0E7FAF}"/>
              </a:ext>
            </a:extLst>
          </p:cNvPr>
          <p:cNvSpPr/>
          <p:nvPr/>
        </p:nvSpPr>
        <p:spPr>
          <a:xfrm>
            <a:off x="350099" y="5352924"/>
            <a:ext cx="14839102" cy="2706933"/>
          </a:xfrm>
          <a:prstGeom prst="round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Ø"/>
            </a:pPr>
            <a:r>
              <a:rPr lang="en-US" sz="2400" dirty="0"/>
              <a:t>A farmer growing garlic can earn the </a:t>
            </a:r>
            <a:r>
              <a:rPr lang="en-US" sz="2400" b="1" dirty="0"/>
              <a:t>highest prices</a:t>
            </a:r>
            <a:r>
              <a:rPr lang="en-US" sz="2400" dirty="0"/>
              <a:t>, especially if he sells in Thane or Chandrapur.</a:t>
            </a:r>
          </a:p>
          <a:p>
            <a:pPr marL="342900" indent="-342900">
              <a:buFont typeface="Wingdings" panose="05000000000000000000" pitchFamily="2" charset="2"/>
              <a:buChar char="Ø"/>
            </a:pPr>
            <a:r>
              <a:rPr lang="en-US" sz="2400" dirty="0"/>
              <a:t>If he grows beans, </a:t>
            </a:r>
            <a:r>
              <a:rPr lang="en-US" sz="2400" b="1" dirty="0"/>
              <a:t>Nashik and Pune markets</a:t>
            </a:r>
            <a:r>
              <a:rPr lang="en-US" sz="2400" dirty="0"/>
              <a:t> are the best options to get good returns.</a:t>
            </a:r>
          </a:p>
          <a:p>
            <a:pPr marL="342900" indent="-342900">
              <a:buFont typeface="Wingdings" panose="05000000000000000000" pitchFamily="2" charset="2"/>
              <a:buChar char="Ø"/>
            </a:pPr>
            <a:r>
              <a:rPr lang="en-US" sz="2400" dirty="0"/>
              <a:t>For crops like potato, cabbage, tomato &amp; onion, prices are </a:t>
            </a:r>
            <a:r>
              <a:rPr lang="en-US" sz="2400" b="1" dirty="0"/>
              <a:t>lower but stable</a:t>
            </a:r>
            <a:r>
              <a:rPr lang="en-US" sz="2400" dirty="0"/>
              <a:t>, so farmers can sell safely without much risk.</a:t>
            </a:r>
          </a:p>
          <a:p>
            <a:pPr marL="342900" indent="-342900">
              <a:buFont typeface="Wingdings" panose="05000000000000000000" pitchFamily="2" charset="2"/>
              <a:buChar char="Ø"/>
            </a:pPr>
            <a:r>
              <a:rPr lang="en-US" sz="2400" dirty="0"/>
              <a:t>Choosing </a:t>
            </a:r>
            <a:r>
              <a:rPr lang="en-US" sz="2400" b="1" dirty="0"/>
              <a:t>big markets like Nashik, Pune, and Thane</a:t>
            </a:r>
            <a:r>
              <a:rPr lang="en-US" sz="2400" dirty="0"/>
              <a:t> can help farmers get </a:t>
            </a:r>
            <a:r>
              <a:rPr lang="en-US" sz="2400" b="1" dirty="0"/>
              <a:t>better profits</a:t>
            </a:r>
            <a:r>
              <a:rPr lang="en-US" sz="2400" dirty="0"/>
              <a:t> compared to small markets.</a:t>
            </a:r>
            <a:endParaRPr lang="en-IN" sz="2400" dirty="0"/>
          </a:p>
        </p:txBody>
      </p:sp>
    </p:spTree>
    <p:extLst>
      <p:ext uri="{BB962C8B-B14F-4D97-AF65-F5344CB8AC3E}">
        <p14:creationId xmlns:p14="http://schemas.microsoft.com/office/powerpoint/2010/main" val="16709589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FC87CFC-1D43-5446-27AF-53FA6CDBB8F4}"/>
              </a:ext>
            </a:extLst>
          </p:cNvPr>
          <p:cNvSpPr txBox="1"/>
          <p:nvPr/>
        </p:nvSpPr>
        <p:spPr>
          <a:xfrm>
            <a:off x="6419850" y="596612"/>
            <a:ext cx="2705100" cy="584775"/>
          </a:xfrm>
          <a:prstGeom prst="rect">
            <a:avLst/>
          </a:prstGeom>
          <a:noFill/>
          <a:ln>
            <a:solidFill>
              <a:srgbClr val="FFFFFF"/>
            </a:solidFill>
          </a:ln>
        </p:spPr>
        <p:txBody>
          <a:bodyPr wrap="square" rtlCol="0">
            <a:spAutoFit/>
          </a:bodyPr>
          <a:lstStyle/>
          <a:p>
            <a:pPr algn="ctr"/>
            <a:r>
              <a:rPr lang="en-US" sz="3200" b="1" dirty="0">
                <a:effectLst>
                  <a:outerShdw blurRad="38100" dist="38100" dir="2700000" algn="tl">
                    <a:srgbClr val="000000">
                      <a:alpha val="43137"/>
                    </a:srgbClr>
                  </a:outerShdw>
                </a:effectLst>
              </a:rPr>
              <a:t>Conclusion:</a:t>
            </a:r>
            <a:endParaRPr lang="en-IN" sz="3200" b="1" dirty="0">
              <a:effectLst>
                <a:outerShdw blurRad="38100" dist="38100" dir="2700000" algn="tl">
                  <a:srgbClr val="000000">
                    <a:alpha val="43137"/>
                  </a:srgbClr>
                </a:outerShdw>
              </a:effectLst>
            </a:endParaRPr>
          </a:p>
        </p:txBody>
      </p:sp>
      <p:sp>
        <p:nvSpPr>
          <p:cNvPr id="10" name="Rectangle: Rounded Corners 9">
            <a:extLst>
              <a:ext uri="{FF2B5EF4-FFF2-40B4-BE49-F238E27FC236}">
                <a16:creationId xmlns:a16="http://schemas.microsoft.com/office/drawing/2014/main" id="{711A09BD-0364-2331-7493-1FE46D77F7E2}"/>
              </a:ext>
            </a:extLst>
          </p:cNvPr>
          <p:cNvSpPr/>
          <p:nvPr/>
        </p:nvSpPr>
        <p:spPr>
          <a:xfrm>
            <a:off x="2997200" y="1917700"/>
            <a:ext cx="9550400" cy="5029200"/>
          </a:xfrm>
          <a:prstGeom prst="roundRect">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250000"/>
              </a:lnSpc>
              <a:buFont typeface="Wingdings" panose="05000000000000000000" pitchFamily="2" charset="2"/>
              <a:buChar char="Ø"/>
            </a:pPr>
            <a:r>
              <a:rPr lang="en-US" sz="2400" dirty="0"/>
              <a:t> Web scraping gives </a:t>
            </a:r>
            <a:r>
              <a:rPr lang="en-US" sz="2400" b="1" dirty="0"/>
              <a:t>real-time market insights</a:t>
            </a:r>
            <a:r>
              <a:rPr lang="en-US" sz="2400" dirty="0"/>
              <a:t> on prices and arrivals.</a:t>
            </a:r>
          </a:p>
          <a:p>
            <a:pPr marL="285750" indent="-285750">
              <a:lnSpc>
                <a:spcPct val="250000"/>
              </a:lnSpc>
              <a:buFont typeface="Wingdings" panose="05000000000000000000" pitchFamily="2" charset="2"/>
              <a:buChar char="Ø"/>
            </a:pPr>
            <a:r>
              <a:rPr lang="en-US" sz="2400" dirty="0"/>
              <a:t> Farmers can </a:t>
            </a:r>
            <a:r>
              <a:rPr lang="en-US" sz="2400" b="1" dirty="0"/>
              <a:t>compare markets</a:t>
            </a:r>
            <a:r>
              <a:rPr lang="en-US" sz="2400" dirty="0"/>
              <a:t> to find the best selling opportunities.</a:t>
            </a:r>
          </a:p>
          <a:p>
            <a:pPr marL="285750" indent="-285750">
              <a:lnSpc>
                <a:spcPct val="250000"/>
              </a:lnSpc>
              <a:buFont typeface="Wingdings" panose="05000000000000000000" pitchFamily="2" charset="2"/>
              <a:buChar char="Ø"/>
            </a:pPr>
            <a:r>
              <a:rPr lang="en-US" sz="2400" dirty="0"/>
              <a:t> Helps in </a:t>
            </a:r>
            <a:r>
              <a:rPr lang="en-US" sz="2400" b="1" dirty="0"/>
              <a:t>crop planning</a:t>
            </a:r>
            <a:r>
              <a:rPr lang="en-US" sz="2400" dirty="0"/>
              <a:t> by showing which varieties are in demand.</a:t>
            </a:r>
          </a:p>
          <a:p>
            <a:pPr marL="285750" indent="-285750">
              <a:lnSpc>
                <a:spcPct val="250000"/>
              </a:lnSpc>
              <a:buFont typeface="Wingdings" panose="05000000000000000000" pitchFamily="2" charset="2"/>
              <a:buChar char="Ø"/>
            </a:pPr>
            <a:r>
              <a:rPr lang="en-US" sz="2400" dirty="0"/>
              <a:t> Reduces dependence on </a:t>
            </a:r>
            <a:r>
              <a:rPr lang="en-US" sz="2400" b="1" dirty="0"/>
              <a:t>middlemen and local traders</a:t>
            </a:r>
            <a:r>
              <a:rPr lang="en-US" sz="2400" dirty="0"/>
              <a:t>.</a:t>
            </a:r>
          </a:p>
          <a:p>
            <a:pPr marL="285750" indent="-285750">
              <a:lnSpc>
                <a:spcPct val="250000"/>
              </a:lnSpc>
              <a:buFont typeface="Wingdings" panose="05000000000000000000" pitchFamily="2" charset="2"/>
              <a:buChar char="Ø"/>
            </a:pPr>
            <a:r>
              <a:rPr lang="en-US" sz="2400" dirty="0"/>
              <a:t> Ensures </a:t>
            </a:r>
            <a:r>
              <a:rPr lang="en-US" sz="2400" b="1" dirty="0"/>
              <a:t>better income, reduced losses, and smarter decisions</a:t>
            </a:r>
            <a:r>
              <a:rPr lang="en-US" sz="2400" dirty="0"/>
              <a:t>.</a:t>
            </a:r>
            <a:endParaRPr lang="en-IN" sz="2400" dirty="0"/>
          </a:p>
        </p:txBody>
      </p:sp>
    </p:spTree>
    <p:extLst>
      <p:ext uri="{BB962C8B-B14F-4D97-AF65-F5344CB8AC3E}">
        <p14:creationId xmlns:p14="http://schemas.microsoft.com/office/powerpoint/2010/main" val="41220007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5"/>
          <p:cNvSpPr txBox="1"/>
          <p:nvPr/>
        </p:nvSpPr>
        <p:spPr>
          <a:xfrm>
            <a:off x="5537200" y="3515230"/>
            <a:ext cx="4470400" cy="1199140"/>
          </a:xfrm>
          <a:prstGeom prst="rect">
            <a:avLst/>
          </a:prstGeom>
          <a:noFill/>
          <a:ln>
            <a:noFill/>
          </a:ln>
        </p:spPr>
        <p:txBody>
          <a:bodyPr spcFirstLastPara="1" wrap="square" lIns="50792" tIns="25389" rIns="50792" bIns="25389" anchor="t" anchorCtr="0">
            <a:noAutofit/>
            <a:scene3d>
              <a:camera prst="orthographicFront"/>
              <a:lightRig rig="threePt" dir="t"/>
            </a:scene3d>
            <a:sp3d extrusionH="57150">
              <a:bevelT w="57150" h="38100" prst="artDeco"/>
            </a:sp3d>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47"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Clr>
                <a:srgbClr val="C00000"/>
              </a:buClr>
              <a:buSzPts val="4400"/>
              <a:buFont typeface="Libre Baskerville"/>
              <a:buNone/>
            </a:pPr>
            <a:r>
              <a:rPr lang="en-IN" sz="4400" b="1" i="0" u="none" strike="noStrike" cap="none" dirty="0">
                <a:solidFill>
                  <a:schemeClr val="tx1"/>
                </a:solidFill>
                <a:effectLst>
                  <a:reflection blurRad="6350" stA="50000" endA="300" endPos="50000" dist="60007" dir="5400000" sy="-100000" algn="bl" rotWithShape="0"/>
                </a:effectLst>
                <a:latin typeface="Lucida Fax" panose="02060602050505020204" pitchFamily="18" charset="0"/>
                <a:ea typeface="Libre Baskerville"/>
                <a:cs typeface="Libre Baskerville"/>
                <a:sym typeface="Libre Baskerville"/>
              </a:rPr>
              <a:t>THANK YOU </a:t>
            </a:r>
            <a:r>
              <a:rPr lang="en-IN" sz="4400" b="1" dirty="0">
                <a:solidFill>
                  <a:schemeClr val="tx1"/>
                </a:solidFill>
                <a:effectLst>
                  <a:reflection blurRad="6350" stA="50000" endA="300" endPos="50000" dist="60007" dir="5400000" sy="-100000" algn="bl" rotWithShape="0"/>
                </a:effectLst>
                <a:latin typeface="Lucida Fax" panose="02060602050505020204" pitchFamily="18" charset="0"/>
                <a:ea typeface="Libre Baskerville"/>
                <a:cs typeface="Libre Baskerville"/>
                <a:sym typeface="Libre Baskerville"/>
              </a:rPr>
              <a:t>!</a:t>
            </a:r>
            <a:endParaRPr sz="1600" b="1" i="0" u="none" strike="noStrike" cap="none" dirty="0">
              <a:solidFill>
                <a:schemeClr val="tx1"/>
              </a:solidFill>
              <a:effectLst>
                <a:reflection blurRad="6350" stA="50000" endA="300" endPos="50000" dist="60007" dir="5400000" sy="-100000" algn="bl" rotWithShape="0"/>
              </a:effectLst>
              <a:latin typeface="Lucida Fax" panose="02060602050505020204" pitchFamily="18" charset="0"/>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942</TotalTime>
  <Words>1378</Words>
  <Application>Microsoft Office PowerPoint</Application>
  <PresentationFormat>Custom</PresentationFormat>
  <Paragraphs>126</Paragraphs>
  <Slides>21</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Aptos</vt:lpstr>
      <vt:lpstr>Arial</vt:lpstr>
      <vt:lpstr>Lato Black</vt:lpstr>
      <vt:lpstr>Libre Baskerville</vt:lpstr>
      <vt:lpstr>Book Antiqua</vt:lpstr>
      <vt:lpstr>Lucida Fax</vt:lpstr>
      <vt:lpstr>Calibri</vt:lpstr>
      <vt:lpstr>Wingdings</vt:lpstr>
      <vt:lpstr>Calibri Light</vt:lpstr>
      <vt:lpstr>Wingdings,Sans-Serif</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Vishal Chavanke</cp:lastModifiedBy>
  <cp:revision>2</cp:revision>
  <dcterms:created xsi:type="dcterms:W3CDTF">2021-02-16T05:19:01Z</dcterms:created>
  <dcterms:modified xsi:type="dcterms:W3CDTF">2025-11-02T12:20:16Z</dcterms:modified>
</cp:coreProperties>
</file>